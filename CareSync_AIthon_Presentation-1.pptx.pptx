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5"/>
    </p:embeddedFont>
    <p:embeddedFont>
      <p:font typeface="Aptos Bold" charset="1" panose="020B0004020202020204"/>
      <p:regular r:id="rId16"/>
    </p:embeddedFont>
    <p:embeddedFont>
      <p:font typeface="Aptos" charset="1" panose="020B0004020202020204"/>
      <p:regular r:id="rId17"/>
    </p:embeddedFont>
    <p:embeddedFont>
      <p:font typeface="Calibri (MS)" charset="1" panose="020F0502020204030204"/>
      <p:regular r:id="rId18"/>
    </p:embeddedFont>
    <p:embeddedFont>
      <p:font typeface="Roboto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13059" y="549069"/>
            <a:ext cx="3157147" cy="3157147"/>
            <a:chOff x="0" y="0"/>
            <a:chExt cx="4209529" cy="4209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09542" cy="4209542"/>
            </a:xfrm>
            <a:custGeom>
              <a:avLst/>
              <a:gdLst/>
              <a:ahLst/>
              <a:cxnLst/>
              <a:rect r="r" b="b" t="t" l="l"/>
              <a:pathLst>
                <a:path h="4209542" w="4209542">
                  <a:moveTo>
                    <a:pt x="0" y="2104771"/>
                  </a:moveTo>
                  <a:cubicBezTo>
                    <a:pt x="0" y="942340"/>
                    <a:pt x="942340" y="0"/>
                    <a:pt x="2104771" y="0"/>
                  </a:cubicBezTo>
                  <a:cubicBezTo>
                    <a:pt x="3267202" y="0"/>
                    <a:pt x="4209542" y="942340"/>
                    <a:pt x="4209542" y="2104771"/>
                  </a:cubicBezTo>
                  <a:cubicBezTo>
                    <a:pt x="4209542" y="3267202"/>
                    <a:pt x="3267202" y="4209542"/>
                    <a:pt x="2104771" y="4209542"/>
                  </a:cubicBezTo>
                  <a:cubicBezTo>
                    <a:pt x="942340" y="4209542"/>
                    <a:pt x="0" y="3267202"/>
                    <a:pt x="0" y="2104771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0264" y="2059010"/>
            <a:ext cx="1372676" cy="1372676"/>
            <a:chOff x="0" y="0"/>
            <a:chExt cx="1830235" cy="18302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324" cy="1830324"/>
            </a:xfrm>
            <a:custGeom>
              <a:avLst/>
              <a:gdLst/>
              <a:ahLst/>
              <a:cxnLst/>
              <a:rect r="r" b="b" t="t" l="l"/>
              <a:pathLst>
                <a:path h="1830324" w="1830324">
                  <a:moveTo>
                    <a:pt x="0" y="915162"/>
                  </a:moveTo>
                  <a:cubicBezTo>
                    <a:pt x="0" y="409702"/>
                    <a:pt x="409702" y="0"/>
                    <a:pt x="915162" y="0"/>
                  </a:cubicBezTo>
                  <a:cubicBezTo>
                    <a:pt x="1420622" y="0"/>
                    <a:pt x="1830324" y="409702"/>
                    <a:pt x="1830324" y="915162"/>
                  </a:cubicBezTo>
                  <a:cubicBezTo>
                    <a:pt x="1830324" y="1420622"/>
                    <a:pt x="1420622" y="1830324"/>
                    <a:pt x="915162" y="1830324"/>
                  </a:cubicBezTo>
                  <a:cubicBezTo>
                    <a:pt x="409702" y="1830324"/>
                    <a:pt x="0" y="1420495"/>
                    <a:pt x="0" y="915162"/>
                  </a:cubicBezTo>
                  <a:close/>
                </a:path>
              </a:pathLst>
            </a:custGeom>
            <a:solidFill>
              <a:srgbClr val="41C9D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040392" y="7961500"/>
            <a:ext cx="2745343" cy="2745343"/>
            <a:chOff x="0" y="0"/>
            <a:chExt cx="3660458" cy="36604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60521" cy="3660521"/>
            </a:xfrm>
            <a:custGeom>
              <a:avLst/>
              <a:gdLst/>
              <a:ahLst/>
              <a:cxnLst/>
              <a:rect r="r" b="b" t="t" l="l"/>
              <a:pathLst>
                <a:path h="3660521" w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17465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8324" y="7137892"/>
            <a:ext cx="4323921" cy="754970"/>
            <a:chOff x="0" y="0"/>
            <a:chExt cx="5765228" cy="10066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65165" cy="1006601"/>
            </a:xfrm>
            <a:custGeom>
              <a:avLst/>
              <a:gdLst/>
              <a:ahLst/>
              <a:cxnLst/>
              <a:rect r="r" b="b" t="t" l="l"/>
              <a:pathLst>
                <a:path h="1006601" w="5765165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5597398" y="0"/>
                  </a:lnTo>
                  <a:cubicBezTo>
                    <a:pt x="5690108" y="0"/>
                    <a:pt x="5765165" y="75057"/>
                    <a:pt x="5765165" y="167767"/>
                  </a:cubicBezTo>
                  <a:lnTo>
                    <a:pt x="5765165" y="838834"/>
                  </a:lnTo>
                  <a:cubicBezTo>
                    <a:pt x="5765165" y="931544"/>
                    <a:pt x="5690108" y="1006601"/>
                    <a:pt x="5597398" y="1006601"/>
                  </a:cubicBezTo>
                  <a:lnTo>
                    <a:pt x="167767" y="1006601"/>
                  </a:lnTo>
                  <a:cubicBezTo>
                    <a:pt x="75057" y="1006601"/>
                    <a:pt x="0" y="931544"/>
                    <a:pt x="0" y="838834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765228" cy="1063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1"/>
                </a:lnSpc>
              </a:pPr>
              <a:r>
                <a:rPr lang="en-US" sz="2601" b="true">
                  <a:solidFill>
                    <a:srgbClr val="FAFD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AI-THON • CODEFLUX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61391" y="2446349"/>
            <a:ext cx="3985212" cy="6887823"/>
            <a:chOff x="0" y="0"/>
            <a:chExt cx="4648784" cy="80347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48835" cy="8034655"/>
            </a:xfrm>
            <a:custGeom>
              <a:avLst/>
              <a:gdLst/>
              <a:ahLst/>
              <a:cxnLst/>
              <a:rect r="r" b="b" t="t" l="l"/>
              <a:pathLst>
                <a:path h="8034655" w="4648835">
                  <a:moveTo>
                    <a:pt x="599994" y="0"/>
                  </a:moveTo>
                  <a:lnTo>
                    <a:pt x="4048841" y="0"/>
                  </a:lnTo>
                  <a:cubicBezTo>
                    <a:pt x="4207969" y="0"/>
                    <a:pt x="4360580" y="63213"/>
                    <a:pt x="4473101" y="175734"/>
                  </a:cubicBezTo>
                  <a:cubicBezTo>
                    <a:pt x="4585621" y="288255"/>
                    <a:pt x="4648835" y="440866"/>
                    <a:pt x="4648835" y="599994"/>
                  </a:cubicBezTo>
                  <a:lnTo>
                    <a:pt x="4648835" y="7434662"/>
                  </a:lnTo>
                  <a:cubicBezTo>
                    <a:pt x="4648835" y="7593790"/>
                    <a:pt x="4585621" y="7746401"/>
                    <a:pt x="4473101" y="7858921"/>
                  </a:cubicBezTo>
                  <a:cubicBezTo>
                    <a:pt x="4360580" y="7971442"/>
                    <a:pt x="4207969" y="8034655"/>
                    <a:pt x="4048841" y="8034655"/>
                  </a:cubicBezTo>
                  <a:lnTo>
                    <a:pt x="599994" y="8034655"/>
                  </a:lnTo>
                  <a:cubicBezTo>
                    <a:pt x="440866" y="8034655"/>
                    <a:pt x="288255" y="7971442"/>
                    <a:pt x="175734" y="7858921"/>
                  </a:cubicBezTo>
                  <a:cubicBezTo>
                    <a:pt x="63213" y="7746401"/>
                    <a:pt x="0" y="7593790"/>
                    <a:pt x="0" y="7434662"/>
                  </a:cubicBezTo>
                  <a:lnTo>
                    <a:pt x="0" y="599994"/>
                  </a:lnTo>
                  <a:cubicBezTo>
                    <a:pt x="0" y="440866"/>
                    <a:pt x="63213" y="288255"/>
                    <a:pt x="175734" y="175734"/>
                  </a:cubicBezTo>
                  <a:cubicBezTo>
                    <a:pt x="288255" y="63213"/>
                    <a:pt x="440866" y="0"/>
                    <a:pt x="59999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838" r="0" b="-15035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57522" y="293355"/>
            <a:ext cx="3229491" cy="2152994"/>
          </a:xfrm>
          <a:custGeom>
            <a:avLst/>
            <a:gdLst/>
            <a:ahLst/>
            <a:cxnLst/>
            <a:rect r="r" b="b" t="t" l="l"/>
            <a:pathLst>
              <a:path h="2152994" w="3229491">
                <a:moveTo>
                  <a:pt x="0" y="0"/>
                </a:moveTo>
                <a:lnTo>
                  <a:pt x="3229491" y="0"/>
                </a:lnTo>
                <a:lnTo>
                  <a:pt x="3229491" y="2152994"/>
                </a:lnTo>
                <a:lnTo>
                  <a:pt x="0" y="21529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52312" y="2791063"/>
            <a:ext cx="11622100" cy="176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7"/>
              </a:lnSpc>
            </a:pPr>
            <a:r>
              <a:rPr lang="en-US" sz="7806" b="true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CareSync</a:t>
            </a:r>
          </a:p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41C9D2"/>
                </a:solidFill>
                <a:latin typeface="Aptos"/>
                <a:ea typeface="Aptos"/>
                <a:cs typeface="Aptos"/>
                <a:sym typeface="Aptos"/>
              </a:rPr>
              <a:t>AI-powered healthcare companion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9764" y="5055975"/>
            <a:ext cx="10798502" cy="155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D6EBED"/>
                </a:solidFill>
                <a:latin typeface="Aptos"/>
                <a:ea typeface="Aptos"/>
                <a:cs typeface="Aptos"/>
                <a:sym typeface="Aptos"/>
              </a:rPr>
              <a:t>More than a reminder app — keeping patients and families connected, informed, and safe.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6411" y="8998325"/>
            <a:ext cx="3705519" cy="46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740" b="true">
                <a:solidFill>
                  <a:srgbClr val="BED7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SDGI Global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5092" y="3355896"/>
            <a:ext cx="5299091" cy="3240081"/>
            <a:chOff x="0" y="0"/>
            <a:chExt cx="7065454" cy="4320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65518" cy="4320159"/>
            </a:xfrm>
            <a:custGeom>
              <a:avLst/>
              <a:gdLst/>
              <a:ahLst/>
              <a:cxnLst/>
              <a:rect r="r" b="b" t="t" l="l"/>
              <a:pathLst>
                <a:path h="4320159" w="7065518">
                  <a:moveTo>
                    <a:pt x="0" y="720090"/>
                  </a:moveTo>
                  <a:cubicBezTo>
                    <a:pt x="0" y="322326"/>
                    <a:pt x="322326" y="0"/>
                    <a:pt x="720090" y="0"/>
                  </a:cubicBezTo>
                  <a:lnTo>
                    <a:pt x="6345428" y="0"/>
                  </a:lnTo>
                  <a:cubicBezTo>
                    <a:pt x="6743065" y="0"/>
                    <a:pt x="7065518" y="322326"/>
                    <a:pt x="7065518" y="720090"/>
                  </a:cubicBezTo>
                  <a:lnTo>
                    <a:pt x="7065518" y="3600069"/>
                  </a:lnTo>
                  <a:cubicBezTo>
                    <a:pt x="7065518" y="3997706"/>
                    <a:pt x="6743192" y="4320159"/>
                    <a:pt x="6345428" y="4320159"/>
                  </a:cubicBezTo>
                  <a:lnTo>
                    <a:pt x="720090" y="4320159"/>
                  </a:lnTo>
                  <a:cubicBezTo>
                    <a:pt x="322453" y="4320159"/>
                    <a:pt x="0" y="3997833"/>
                    <a:pt x="0" y="3600069"/>
                  </a:cubicBezTo>
                  <a:close/>
                </a:path>
              </a:pathLst>
            </a:custGeom>
            <a:solidFill>
              <a:srgbClr val="41C9D2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11863" y="3610127"/>
            <a:ext cx="96088" cy="2731618"/>
            <a:chOff x="0" y="0"/>
            <a:chExt cx="128118" cy="36421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43" cy="3642106"/>
            </a:xfrm>
            <a:custGeom>
              <a:avLst/>
              <a:gdLst/>
              <a:ahLst/>
              <a:cxnLst/>
              <a:rect r="r" b="b" t="t" l="l"/>
              <a:pathLst>
                <a:path h="3642106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3620770"/>
                  </a:lnTo>
                  <a:cubicBezTo>
                    <a:pt x="128143" y="3632581"/>
                    <a:pt x="118618" y="3642106"/>
                    <a:pt x="106807" y="3642106"/>
                  </a:cubicBezTo>
                  <a:lnTo>
                    <a:pt x="21336" y="3642106"/>
                  </a:lnTo>
                  <a:cubicBezTo>
                    <a:pt x="9525" y="3642106"/>
                    <a:pt x="0" y="3632581"/>
                    <a:pt x="0" y="3620770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13043" y="3355896"/>
            <a:ext cx="5299091" cy="3240081"/>
            <a:chOff x="0" y="0"/>
            <a:chExt cx="7065454" cy="43201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65518" cy="4320159"/>
            </a:xfrm>
            <a:custGeom>
              <a:avLst/>
              <a:gdLst/>
              <a:ahLst/>
              <a:cxnLst/>
              <a:rect r="r" b="b" t="t" l="l"/>
              <a:pathLst>
                <a:path h="4320159" w="7065518">
                  <a:moveTo>
                    <a:pt x="0" y="720090"/>
                  </a:moveTo>
                  <a:cubicBezTo>
                    <a:pt x="0" y="322326"/>
                    <a:pt x="322326" y="0"/>
                    <a:pt x="720090" y="0"/>
                  </a:cubicBezTo>
                  <a:lnTo>
                    <a:pt x="6345428" y="0"/>
                  </a:lnTo>
                  <a:cubicBezTo>
                    <a:pt x="6743065" y="0"/>
                    <a:pt x="7065518" y="322326"/>
                    <a:pt x="7065518" y="720090"/>
                  </a:cubicBezTo>
                  <a:lnTo>
                    <a:pt x="7065518" y="3600069"/>
                  </a:lnTo>
                  <a:cubicBezTo>
                    <a:pt x="7065518" y="3997706"/>
                    <a:pt x="6743192" y="4320159"/>
                    <a:pt x="6345428" y="4320159"/>
                  </a:cubicBezTo>
                  <a:lnTo>
                    <a:pt x="720090" y="4320159"/>
                  </a:lnTo>
                  <a:cubicBezTo>
                    <a:pt x="322453" y="4320159"/>
                    <a:pt x="0" y="3997833"/>
                    <a:pt x="0" y="3600069"/>
                  </a:cubicBezTo>
                  <a:close/>
                </a:path>
              </a:pathLst>
            </a:custGeom>
            <a:solidFill>
              <a:srgbClr val="41C9D2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739823" y="3610127"/>
            <a:ext cx="96088" cy="2731618"/>
            <a:chOff x="0" y="0"/>
            <a:chExt cx="128118" cy="36421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43" cy="3642106"/>
            </a:xfrm>
            <a:custGeom>
              <a:avLst/>
              <a:gdLst/>
              <a:ahLst/>
              <a:cxnLst/>
              <a:rect r="r" b="b" t="t" l="l"/>
              <a:pathLst>
                <a:path h="3642106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3620770"/>
                  </a:lnTo>
                  <a:cubicBezTo>
                    <a:pt x="128143" y="3632581"/>
                    <a:pt x="118618" y="3642106"/>
                    <a:pt x="106807" y="3642106"/>
                  </a:cubicBezTo>
                  <a:lnTo>
                    <a:pt x="21336" y="3642106"/>
                  </a:lnTo>
                  <a:cubicBezTo>
                    <a:pt x="9525" y="3642106"/>
                    <a:pt x="0" y="3632581"/>
                    <a:pt x="0" y="3620770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41003" y="3355896"/>
            <a:ext cx="5299091" cy="3240081"/>
            <a:chOff x="0" y="0"/>
            <a:chExt cx="7065454" cy="43201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5518" cy="4320159"/>
            </a:xfrm>
            <a:custGeom>
              <a:avLst/>
              <a:gdLst/>
              <a:ahLst/>
              <a:cxnLst/>
              <a:rect r="r" b="b" t="t" l="l"/>
              <a:pathLst>
                <a:path h="4320159" w="7065518">
                  <a:moveTo>
                    <a:pt x="0" y="720090"/>
                  </a:moveTo>
                  <a:cubicBezTo>
                    <a:pt x="0" y="322326"/>
                    <a:pt x="322326" y="0"/>
                    <a:pt x="720090" y="0"/>
                  </a:cubicBezTo>
                  <a:lnTo>
                    <a:pt x="6345428" y="0"/>
                  </a:lnTo>
                  <a:cubicBezTo>
                    <a:pt x="6743065" y="0"/>
                    <a:pt x="7065518" y="322326"/>
                    <a:pt x="7065518" y="720090"/>
                  </a:cubicBezTo>
                  <a:lnTo>
                    <a:pt x="7065518" y="3600069"/>
                  </a:lnTo>
                  <a:cubicBezTo>
                    <a:pt x="7065518" y="3997706"/>
                    <a:pt x="6743192" y="4320159"/>
                    <a:pt x="6345428" y="4320159"/>
                  </a:cubicBezTo>
                  <a:lnTo>
                    <a:pt x="720090" y="4320159"/>
                  </a:lnTo>
                  <a:cubicBezTo>
                    <a:pt x="322453" y="4320159"/>
                    <a:pt x="0" y="3997833"/>
                    <a:pt x="0" y="3600069"/>
                  </a:cubicBezTo>
                  <a:close/>
                </a:path>
              </a:pathLst>
            </a:custGeom>
            <a:solidFill>
              <a:srgbClr val="41C9D2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367774" y="3610127"/>
            <a:ext cx="96088" cy="2731618"/>
            <a:chOff x="0" y="0"/>
            <a:chExt cx="128118" cy="36421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43" cy="3642106"/>
            </a:xfrm>
            <a:custGeom>
              <a:avLst/>
              <a:gdLst/>
              <a:ahLst/>
              <a:cxnLst/>
              <a:rect r="r" b="b" t="t" l="l"/>
              <a:pathLst>
                <a:path h="3642106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3620770"/>
                  </a:lnTo>
                  <a:cubicBezTo>
                    <a:pt x="128143" y="3632581"/>
                    <a:pt x="118618" y="3642106"/>
                    <a:pt x="106807" y="3642106"/>
                  </a:cubicBezTo>
                  <a:lnTo>
                    <a:pt x="21336" y="3642106"/>
                  </a:lnTo>
                  <a:cubicBezTo>
                    <a:pt x="9525" y="3642106"/>
                    <a:pt x="0" y="3632581"/>
                    <a:pt x="0" y="3620770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6275" y="7343794"/>
            <a:ext cx="13863990" cy="1235405"/>
            <a:chOff x="0" y="0"/>
            <a:chExt cx="18485320" cy="16472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485358" cy="1647321"/>
            </a:xfrm>
            <a:custGeom>
              <a:avLst/>
              <a:gdLst/>
              <a:ahLst/>
              <a:cxnLst/>
              <a:rect r="r" b="b" t="t" l="l"/>
              <a:pathLst>
                <a:path h="1647321" w="18485358">
                  <a:moveTo>
                    <a:pt x="0" y="274575"/>
                  </a:moveTo>
                  <a:cubicBezTo>
                    <a:pt x="0" y="122936"/>
                    <a:pt x="122936" y="0"/>
                    <a:pt x="274574" y="0"/>
                  </a:cubicBezTo>
                  <a:lnTo>
                    <a:pt x="18210785" y="0"/>
                  </a:lnTo>
                  <a:cubicBezTo>
                    <a:pt x="18362423" y="0"/>
                    <a:pt x="18485358" y="122936"/>
                    <a:pt x="18485358" y="274575"/>
                  </a:cubicBezTo>
                  <a:lnTo>
                    <a:pt x="18485358" y="1372747"/>
                  </a:lnTo>
                  <a:cubicBezTo>
                    <a:pt x="18485358" y="1524385"/>
                    <a:pt x="18362423" y="1647321"/>
                    <a:pt x="18210785" y="1647321"/>
                  </a:cubicBezTo>
                  <a:lnTo>
                    <a:pt x="274574" y="1647321"/>
                  </a:lnTo>
                  <a:cubicBezTo>
                    <a:pt x="122936" y="1647194"/>
                    <a:pt x="0" y="1524258"/>
                    <a:pt x="0" y="1372620"/>
                  </a:cubicBezTo>
                  <a:close/>
                </a:path>
              </a:pathLst>
            </a:custGeom>
            <a:solidFill>
              <a:srgbClr val="41C9D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8485320" cy="1713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2"/>
                </a:lnSpc>
              </a:pPr>
              <a:r>
                <a:rPr lang="en-US" sz="2751" b="true">
                  <a:solidFill>
                    <a:srgbClr val="0C1F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connected care layer can make everyday medication safer and emergencies faster.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3608" y="9718519"/>
            <a:ext cx="16609333" cy="20593"/>
            <a:chOff x="0" y="0"/>
            <a:chExt cx="22145777" cy="274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45752" cy="27432"/>
            </a:xfrm>
            <a:custGeom>
              <a:avLst/>
              <a:gdLst/>
              <a:ahLst/>
              <a:cxnLst/>
              <a:rect r="r" b="b" t="t" l="l"/>
              <a:pathLst>
                <a:path h="27432" w="22145752">
                  <a:moveTo>
                    <a:pt x="0" y="0"/>
                  </a:moveTo>
                  <a:lnTo>
                    <a:pt x="22145752" y="0"/>
                  </a:lnTo>
                  <a:lnTo>
                    <a:pt x="22145752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7E6E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23608" y="787403"/>
            <a:ext cx="2630138" cy="91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3"/>
              </a:lnSpc>
            </a:pPr>
            <a:r>
              <a:rPr lang="en-US" sz="4703" b="true">
                <a:solidFill>
                  <a:srgbClr val="F6F8F9"/>
                </a:solidFill>
                <a:latin typeface="Aptos Bold"/>
                <a:ea typeface="Aptos Bold"/>
                <a:cs typeface="Aptos Bold"/>
                <a:sym typeface="Aptos Bold"/>
              </a:rPr>
              <a:t>CareSync</a:t>
            </a:r>
          </a:p>
          <a:p>
            <a:pPr algn="l">
              <a:lnSpc>
                <a:spcPts val="1746"/>
              </a:lnSpc>
            </a:pPr>
            <a:r>
              <a:rPr lang="en-US" sz="1455" b="true">
                <a:solidFill>
                  <a:srgbClr val="189A97"/>
                </a:solidFill>
                <a:latin typeface="Aptos Bold"/>
                <a:ea typeface="Aptos Bold"/>
                <a:cs typeface="Aptos Bold"/>
                <a:sym typeface="Aptos Bold"/>
              </a:rPr>
              <a:t>HEALTH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43940" y="497576"/>
            <a:ext cx="434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0B4BE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2499" y="1487024"/>
            <a:ext cx="11896639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The Problem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7677" y="2679985"/>
            <a:ext cx="15062587" cy="352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343">
                <a:solidFill>
                  <a:srgbClr val="F6F8F9"/>
                </a:solidFill>
                <a:latin typeface="Aptos"/>
                <a:ea typeface="Aptos"/>
                <a:cs typeface="Aptos"/>
                <a:sym typeface="Aptos"/>
              </a:rPr>
              <a:t>Medication management becomes difficult when information, adherence, and emergency support are disconnected.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0274" y="3655847"/>
            <a:ext cx="4346943" cy="136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Medication adherence</a:t>
            </a:r>
          </a:p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Elders and patients can miss or forget scheduled doses, making consistent medication routines harder.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33253" y="3655847"/>
            <a:ext cx="4346943" cy="136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Medication understanding</a:t>
            </a:r>
          </a:p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Medicine instructions, uses, side effects, interactions and warnings can be difficult to interpret.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61204" y="3655847"/>
            <a:ext cx="4346943" cy="136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Emergency response</a:t>
            </a:r>
          </a:p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Patients need a simple way to alert a registered emergency contact and share relevant status.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3675" y="9790576"/>
            <a:ext cx="8053159" cy="2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>
                <a:solidFill>
                  <a:srgbClr val="647884"/>
                </a:solidFill>
                <a:latin typeface="Calibri (MS)"/>
                <a:ea typeface="Calibri (MS)"/>
                <a:cs typeface="Calibri (MS)"/>
                <a:sym typeface="Calibri (MS)"/>
              </a:rPr>
              <a:t>CodeFlux • SDGI Global University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2985106"/>
            <a:ext cx="4340709" cy="5861447"/>
            <a:chOff x="0" y="0"/>
            <a:chExt cx="1143232" cy="1543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232" cy="1543756"/>
            </a:xfrm>
            <a:custGeom>
              <a:avLst/>
              <a:gdLst/>
              <a:ahLst/>
              <a:cxnLst/>
              <a:rect r="r" b="b" t="t" l="l"/>
              <a:pathLst>
                <a:path h="1543756" w="1143232">
                  <a:moveTo>
                    <a:pt x="90962" y="0"/>
                  </a:moveTo>
                  <a:lnTo>
                    <a:pt x="1052270" y="0"/>
                  </a:lnTo>
                  <a:cubicBezTo>
                    <a:pt x="1102507" y="0"/>
                    <a:pt x="1143232" y="40725"/>
                    <a:pt x="1143232" y="90962"/>
                  </a:cubicBezTo>
                  <a:lnTo>
                    <a:pt x="1143232" y="1452794"/>
                  </a:lnTo>
                  <a:cubicBezTo>
                    <a:pt x="1143232" y="1503031"/>
                    <a:pt x="1102507" y="1543756"/>
                    <a:pt x="1052270" y="1543756"/>
                  </a:cubicBezTo>
                  <a:lnTo>
                    <a:pt x="90962" y="1543756"/>
                  </a:lnTo>
                  <a:cubicBezTo>
                    <a:pt x="40725" y="1543756"/>
                    <a:pt x="0" y="1503031"/>
                    <a:pt x="0" y="1452794"/>
                  </a:cubicBezTo>
                  <a:lnTo>
                    <a:pt x="0" y="90962"/>
                  </a:lnTo>
                  <a:cubicBezTo>
                    <a:pt x="0" y="40725"/>
                    <a:pt x="40725" y="0"/>
                    <a:pt x="90962" y="0"/>
                  </a:cubicBezTo>
                  <a:close/>
                </a:path>
              </a:pathLst>
            </a:custGeom>
            <a:solidFill>
              <a:srgbClr val="2F2C7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43232" cy="1572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6774" y="3225784"/>
            <a:ext cx="754971" cy="754971"/>
            <a:chOff x="0" y="0"/>
            <a:chExt cx="1006627" cy="1006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06627" cy="1044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AFD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6774" y="4667088"/>
            <a:ext cx="754971" cy="754971"/>
            <a:chOff x="0" y="0"/>
            <a:chExt cx="1006627" cy="1006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06627" cy="1044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AFD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6774" y="6108392"/>
            <a:ext cx="754971" cy="754970"/>
            <a:chOff x="0" y="0"/>
            <a:chExt cx="1006627" cy="10066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6602" cy="1006601"/>
            </a:xfrm>
            <a:custGeom>
              <a:avLst/>
              <a:gdLst/>
              <a:ahLst/>
              <a:cxnLst/>
              <a:rect r="r" b="b" t="t" l="l"/>
              <a:pathLst>
                <a:path h="1006601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06627" cy="1044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AFD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6774" y="7549696"/>
            <a:ext cx="754971" cy="754971"/>
            <a:chOff x="0" y="0"/>
            <a:chExt cx="1006627" cy="10066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DC4A5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06627" cy="1044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AFD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3608" y="9718519"/>
            <a:ext cx="16609333" cy="20593"/>
            <a:chOff x="0" y="0"/>
            <a:chExt cx="22145777" cy="274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45752" cy="27432"/>
            </a:xfrm>
            <a:custGeom>
              <a:avLst/>
              <a:gdLst/>
              <a:ahLst/>
              <a:cxnLst/>
              <a:rect r="r" b="b" t="t" l="l"/>
              <a:pathLst>
                <a:path h="27432" w="22145752">
                  <a:moveTo>
                    <a:pt x="0" y="0"/>
                  </a:moveTo>
                  <a:lnTo>
                    <a:pt x="22145752" y="0"/>
                  </a:lnTo>
                  <a:lnTo>
                    <a:pt x="22145752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7E6E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46411" y="430073"/>
            <a:ext cx="2837002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CareSync</a:t>
            </a:r>
          </a:p>
          <a:p>
            <a:pPr algn="l">
              <a:lnSpc>
                <a:spcPts val="1170"/>
              </a:lnSpc>
            </a:pPr>
            <a:r>
              <a:rPr lang="en-US" sz="975" b="true">
                <a:solidFill>
                  <a:srgbClr val="189A97"/>
                </a:solidFill>
                <a:latin typeface="Aptos Bold"/>
                <a:ea typeface="Aptos Bold"/>
                <a:cs typeface="Aptos Bold"/>
                <a:sym typeface="Aptos Bold"/>
              </a:rPr>
              <a:t>HEALTH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43940" y="497576"/>
            <a:ext cx="434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0B4BE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2499" y="1487024"/>
            <a:ext cx="11896639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The CareSync 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2499" y="2314013"/>
            <a:ext cx="1189663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AFDFD"/>
                </a:solidFill>
                <a:latin typeface="Aptos"/>
                <a:ea typeface="Aptos"/>
                <a:cs typeface="Aptos"/>
                <a:sym typeface="Aptos"/>
              </a:rPr>
              <a:t>A single safety-focused platform for patients, elders and family caregivers.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39048" y="3405815"/>
            <a:ext cx="3935139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AFDF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Add &amp; understand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91491" y="3561081"/>
            <a:ext cx="9195419" cy="41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5"/>
              </a:lnSpc>
            </a:pPr>
            <a:r>
              <a:rPr lang="en-US" sz="2463">
                <a:solidFill>
                  <a:srgbClr val="CFE5E8"/>
                </a:solidFill>
                <a:latin typeface="Calibri (MS)"/>
                <a:ea typeface="Calibri (MS)"/>
                <a:cs typeface="Calibri (MS)"/>
                <a:sym typeface="Calibri (MS)"/>
              </a:rPr>
              <a:t>Medicine details, dosage, food timing, uses, side effects and warnings.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39048" y="4842658"/>
            <a:ext cx="3935139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AFDF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Track &amp; remind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91491" y="4628455"/>
            <a:ext cx="8638523" cy="41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2456">
                <a:solidFill>
                  <a:srgbClr val="CFE5E8"/>
                </a:solidFill>
                <a:latin typeface="Calibri (MS)"/>
                <a:ea typeface="Calibri (MS)"/>
                <a:cs typeface="Calibri (MS)"/>
                <a:sym typeface="Calibri (MS)"/>
              </a:rPr>
              <a:t>Scheduled doses, Take Now, adherence tracking and Pill Organizer.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39048" y="6261950"/>
            <a:ext cx="3935139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AFDF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Ask AI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91491" y="5682468"/>
            <a:ext cx="977058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460">
                <a:solidFill>
                  <a:srgbClr val="CFE5E8"/>
                </a:solidFill>
                <a:latin typeface="Calibri (MS)"/>
                <a:ea typeface="Calibri (MS)"/>
                <a:cs typeface="Calibri (MS)"/>
                <a:sym typeface="Calibri (MS)"/>
              </a:rPr>
              <a:t>Gemini-powered assistant for medication and health-information questions.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39048" y="7697005"/>
            <a:ext cx="3935139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AFDF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Protect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91491" y="6749268"/>
            <a:ext cx="581622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1"/>
              </a:lnSpc>
            </a:pPr>
            <a:r>
              <a:rPr lang="en-US" sz="2460">
                <a:solidFill>
                  <a:srgbClr val="CFE5E8"/>
                </a:solidFill>
                <a:latin typeface="Calibri (MS)"/>
                <a:ea typeface="Calibri (MS)"/>
                <a:cs typeface="Calibri (MS)"/>
                <a:sym typeface="Calibri (MS)"/>
              </a:rPr>
              <a:t>SOS alerts and family/guardian connections.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3675" y="9790576"/>
            <a:ext cx="8053159" cy="2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>
                <a:solidFill>
                  <a:srgbClr val="647884"/>
                </a:solidFill>
                <a:latin typeface="Calibri (MS)"/>
                <a:ea typeface="Calibri (MS)"/>
                <a:cs typeface="Calibri (MS)"/>
                <a:sym typeface="Calibri (MS)"/>
              </a:rPr>
              <a:t>CareSync • Solution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5092" y="526151"/>
            <a:ext cx="1955182" cy="68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b="true" sz="3496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CareSync</a:t>
            </a:r>
          </a:p>
          <a:p>
            <a:pPr algn="l">
              <a:lnSpc>
                <a:spcPts val="1298"/>
              </a:lnSpc>
            </a:pPr>
            <a:r>
              <a:rPr lang="en-US" b="true" sz="1082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HEALTH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043940" y="497576"/>
            <a:ext cx="434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0B4BE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5092" y="1516806"/>
            <a:ext cx="5013070" cy="89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1"/>
              </a:lnSpc>
            </a:pPr>
            <a:r>
              <a:rPr lang="en-US" sz="5884" b="true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Core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5092" y="2599504"/>
            <a:ext cx="11896639" cy="29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CFE5E8"/>
                </a:solidFill>
                <a:latin typeface="Aptos"/>
                <a:ea typeface="Aptos"/>
                <a:cs typeface="Aptos"/>
                <a:sym typeface="Aptos"/>
              </a:rPr>
              <a:t>Built around the moments that matter: taking medicine, understanding it, and getting help.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5092" y="3081366"/>
            <a:ext cx="7907169" cy="1592875"/>
            <a:chOff x="0" y="0"/>
            <a:chExt cx="10542892" cy="21238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42778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54277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188829" y="0"/>
                  </a:lnTo>
                  <a:cubicBezTo>
                    <a:pt x="10384282" y="0"/>
                    <a:pt x="10542778" y="158496"/>
                    <a:pt x="10542778" y="353949"/>
                  </a:cubicBezTo>
                  <a:lnTo>
                    <a:pt x="10542778" y="1769872"/>
                  </a:lnTo>
                  <a:cubicBezTo>
                    <a:pt x="10542778" y="1965325"/>
                    <a:pt x="10384282" y="2123821"/>
                    <a:pt x="1018882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41C9D2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11863" y="3335598"/>
            <a:ext cx="96088" cy="1084412"/>
            <a:chOff x="0" y="0"/>
            <a:chExt cx="128118" cy="14458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43" cy="1445895"/>
            </a:xfrm>
            <a:custGeom>
              <a:avLst/>
              <a:gdLst/>
              <a:ahLst/>
              <a:cxnLst/>
              <a:rect r="r" b="b" t="t" l="l"/>
              <a:pathLst>
                <a:path h="1445895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424559"/>
                  </a:lnTo>
                  <a:cubicBezTo>
                    <a:pt x="128143" y="1436370"/>
                    <a:pt x="118618" y="1445895"/>
                    <a:pt x="106807" y="1445895"/>
                  </a:cubicBezTo>
                  <a:lnTo>
                    <a:pt x="21336" y="1445895"/>
                  </a:lnTo>
                  <a:cubicBezTo>
                    <a:pt x="9525" y="1445895"/>
                    <a:pt x="0" y="1436370"/>
                    <a:pt x="0" y="1424559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05293" y="3381318"/>
            <a:ext cx="6955012" cy="104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Smart medication management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Add medicine, dosage, count, food timing, schedule and instructions.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27023" y="3081366"/>
            <a:ext cx="7907169" cy="1592875"/>
            <a:chOff x="0" y="0"/>
            <a:chExt cx="10542892" cy="21238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42778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54277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188829" y="0"/>
                  </a:lnTo>
                  <a:cubicBezTo>
                    <a:pt x="10384282" y="0"/>
                    <a:pt x="10542778" y="158496"/>
                    <a:pt x="10542778" y="353949"/>
                  </a:cubicBezTo>
                  <a:lnTo>
                    <a:pt x="10542778" y="1769872"/>
                  </a:lnTo>
                  <a:cubicBezTo>
                    <a:pt x="10542778" y="1965325"/>
                    <a:pt x="10384282" y="2123821"/>
                    <a:pt x="1018882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41C9D2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553804" y="3335598"/>
            <a:ext cx="96088" cy="1084412"/>
            <a:chOff x="0" y="0"/>
            <a:chExt cx="128118" cy="14458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143" cy="1445895"/>
            </a:xfrm>
            <a:custGeom>
              <a:avLst/>
              <a:gdLst/>
              <a:ahLst/>
              <a:cxnLst/>
              <a:rect r="r" b="b" t="t" l="l"/>
              <a:pathLst>
                <a:path h="1445895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424559"/>
                  </a:lnTo>
                  <a:cubicBezTo>
                    <a:pt x="128143" y="1436370"/>
                    <a:pt x="118618" y="1445895"/>
                    <a:pt x="106807" y="1445895"/>
                  </a:cubicBezTo>
                  <a:lnTo>
                    <a:pt x="21336" y="1445895"/>
                  </a:lnTo>
                  <a:cubicBezTo>
                    <a:pt x="9525" y="1445895"/>
                    <a:pt x="0" y="1436370"/>
                    <a:pt x="0" y="1424559"/>
                  </a:cubicBezTo>
                  <a:close/>
                </a:path>
              </a:pathLst>
            </a:custGeom>
            <a:solidFill>
              <a:srgbClr val="41C9D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47224" y="3381318"/>
            <a:ext cx="6955012" cy="104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Medicine safety information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Uses, side effects, interactions and warnings from the medicine database.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5092" y="5071739"/>
            <a:ext cx="7907169" cy="1592875"/>
            <a:chOff x="0" y="0"/>
            <a:chExt cx="10542892" cy="21238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42778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54277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188829" y="0"/>
                  </a:lnTo>
                  <a:cubicBezTo>
                    <a:pt x="10384282" y="0"/>
                    <a:pt x="10542778" y="158496"/>
                    <a:pt x="10542778" y="353949"/>
                  </a:cubicBezTo>
                  <a:lnTo>
                    <a:pt x="10542778" y="1769872"/>
                  </a:lnTo>
                  <a:cubicBezTo>
                    <a:pt x="10542778" y="1965325"/>
                    <a:pt x="10384282" y="2123821"/>
                    <a:pt x="1018882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41C9D2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11863" y="5325970"/>
            <a:ext cx="96088" cy="1084412"/>
            <a:chOff x="0" y="0"/>
            <a:chExt cx="128118" cy="14458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143" cy="1445895"/>
            </a:xfrm>
            <a:custGeom>
              <a:avLst/>
              <a:gdLst/>
              <a:ahLst/>
              <a:cxnLst/>
              <a:rect r="r" b="b" t="t" l="l"/>
              <a:pathLst>
                <a:path h="1445895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424559"/>
                  </a:lnTo>
                  <a:cubicBezTo>
                    <a:pt x="128143" y="1436370"/>
                    <a:pt x="118618" y="1445895"/>
                    <a:pt x="106807" y="1445895"/>
                  </a:cubicBezTo>
                  <a:lnTo>
                    <a:pt x="21336" y="1445895"/>
                  </a:lnTo>
                  <a:cubicBezTo>
                    <a:pt x="9525" y="1445895"/>
                    <a:pt x="0" y="1436370"/>
                    <a:pt x="0" y="1424559"/>
                  </a:cubicBezTo>
                  <a:close/>
                </a:path>
              </a:pathLst>
            </a:custGeom>
            <a:solidFill>
              <a:srgbClr val="EFB549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505293" y="5371690"/>
            <a:ext cx="6955012" cy="104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AI Assistant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Gemini-powered medication guidance with a clear healthcare disclaimer.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27023" y="5071739"/>
            <a:ext cx="7907169" cy="1592875"/>
            <a:chOff x="0" y="0"/>
            <a:chExt cx="10542892" cy="21238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42778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54277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188829" y="0"/>
                  </a:lnTo>
                  <a:cubicBezTo>
                    <a:pt x="10384282" y="0"/>
                    <a:pt x="10542778" y="158496"/>
                    <a:pt x="10542778" y="353949"/>
                  </a:cubicBezTo>
                  <a:lnTo>
                    <a:pt x="10542778" y="1769872"/>
                  </a:lnTo>
                  <a:cubicBezTo>
                    <a:pt x="10542778" y="1965325"/>
                    <a:pt x="10384282" y="2123821"/>
                    <a:pt x="1018882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41C9D2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553804" y="5325970"/>
            <a:ext cx="96088" cy="1084412"/>
            <a:chOff x="0" y="0"/>
            <a:chExt cx="128118" cy="144588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143" cy="1445895"/>
            </a:xfrm>
            <a:custGeom>
              <a:avLst/>
              <a:gdLst/>
              <a:ahLst/>
              <a:cxnLst/>
              <a:rect r="r" b="b" t="t" l="l"/>
              <a:pathLst>
                <a:path h="1445895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424559"/>
                  </a:lnTo>
                  <a:cubicBezTo>
                    <a:pt x="128143" y="1436370"/>
                    <a:pt x="118618" y="1445895"/>
                    <a:pt x="106807" y="1445895"/>
                  </a:cubicBezTo>
                  <a:lnTo>
                    <a:pt x="21336" y="1445895"/>
                  </a:lnTo>
                  <a:cubicBezTo>
                    <a:pt x="9525" y="1445895"/>
                    <a:pt x="0" y="1436370"/>
                    <a:pt x="0" y="1424559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47224" y="5371690"/>
            <a:ext cx="6955012" cy="104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OCR Scanner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Scan prescriptions / medical reports or upload an image for review.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85092" y="7062111"/>
            <a:ext cx="7907169" cy="1592875"/>
            <a:chOff x="0" y="0"/>
            <a:chExt cx="10542892" cy="21238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42778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54277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188829" y="0"/>
                  </a:lnTo>
                  <a:cubicBezTo>
                    <a:pt x="10384282" y="0"/>
                    <a:pt x="10542778" y="158496"/>
                    <a:pt x="10542778" y="353949"/>
                  </a:cubicBezTo>
                  <a:lnTo>
                    <a:pt x="10542778" y="1769872"/>
                  </a:lnTo>
                  <a:cubicBezTo>
                    <a:pt x="10542778" y="1965325"/>
                    <a:pt x="10384282" y="2123821"/>
                    <a:pt x="1018882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41C9D2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11863" y="7316343"/>
            <a:ext cx="96088" cy="1084412"/>
            <a:chOff x="0" y="0"/>
            <a:chExt cx="128118" cy="14458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143" cy="1445895"/>
            </a:xfrm>
            <a:custGeom>
              <a:avLst/>
              <a:gdLst/>
              <a:ahLst/>
              <a:cxnLst/>
              <a:rect r="r" b="b" t="t" l="l"/>
              <a:pathLst>
                <a:path h="1445895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424559"/>
                  </a:lnTo>
                  <a:cubicBezTo>
                    <a:pt x="128143" y="1436370"/>
                    <a:pt x="118618" y="1445895"/>
                    <a:pt x="106807" y="1445895"/>
                  </a:cubicBezTo>
                  <a:lnTo>
                    <a:pt x="21336" y="1445895"/>
                  </a:lnTo>
                  <a:cubicBezTo>
                    <a:pt x="9525" y="1445895"/>
                    <a:pt x="0" y="1436370"/>
                    <a:pt x="0" y="1424559"/>
                  </a:cubicBezTo>
                  <a:close/>
                </a:path>
              </a:pathLst>
            </a:custGeom>
            <a:solidFill>
              <a:srgbClr val="41C9D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505293" y="7362063"/>
            <a:ext cx="6955012" cy="104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Pill Organizer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Large-print daily schedule with voice, alarm and caregiver escalation flow.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27023" y="7062111"/>
            <a:ext cx="7907169" cy="1592875"/>
            <a:chOff x="0" y="0"/>
            <a:chExt cx="10542892" cy="21238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542778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54277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188829" y="0"/>
                  </a:lnTo>
                  <a:cubicBezTo>
                    <a:pt x="10384282" y="0"/>
                    <a:pt x="10542778" y="158496"/>
                    <a:pt x="10542778" y="353949"/>
                  </a:cubicBezTo>
                  <a:lnTo>
                    <a:pt x="10542778" y="1769872"/>
                  </a:lnTo>
                  <a:cubicBezTo>
                    <a:pt x="10542778" y="1965325"/>
                    <a:pt x="10384282" y="2123821"/>
                    <a:pt x="1018882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41C9D2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553804" y="7316343"/>
            <a:ext cx="96088" cy="1084412"/>
            <a:chOff x="0" y="0"/>
            <a:chExt cx="128118" cy="144588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143" cy="1445895"/>
            </a:xfrm>
            <a:custGeom>
              <a:avLst/>
              <a:gdLst/>
              <a:ahLst/>
              <a:cxnLst/>
              <a:rect r="r" b="b" t="t" l="l"/>
              <a:pathLst>
                <a:path h="1445895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424559"/>
                  </a:lnTo>
                  <a:cubicBezTo>
                    <a:pt x="128143" y="1436370"/>
                    <a:pt x="118618" y="1445895"/>
                    <a:pt x="106807" y="1445895"/>
                  </a:cubicBezTo>
                  <a:lnTo>
                    <a:pt x="21336" y="1445895"/>
                  </a:lnTo>
                  <a:cubicBezTo>
                    <a:pt x="9525" y="1445895"/>
                    <a:pt x="0" y="1436370"/>
                    <a:pt x="0" y="1424559"/>
                  </a:cubicBezTo>
                  <a:close/>
                </a:path>
              </a:pathLst>
            </a:custGeom>
            <a:solidFill>
              <a:srgbClr val="DC4A53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947224" y="7362063"/>
            <a:ext cx="6955012" cy="104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Family Care + SOS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Connect guardians for updates and trigger emergency support.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23608" y="9718519"/>
            <a:ext cx="16609333" cy="20593"/>
            <a:chOff x="0" y="0"/>
            <a:chExt cx="22145777" cy="2745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145752" cy="27432"/>
            </a:xfrm>
            <a:custGeom>
              <a:avLst/>
              <a:gdLst/>
              <a:ahLst/>
              <a:cxnLst/>
              <a:rect r="r" b="b" t="t" l="l"/>
              <a:pathLst>
                <a:path h="27432" w="22145752">
                  <a:moveTo>
                    <a:pt x="0" y="0"/>
                  </a:moveTo>
                  <a:lnTo>
                    <a:pt x="22145752" y="0"/>
                  </a:lnTo>
                  <a:lnTo>
                    <a:pt x="22145752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7E6E9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83675" y="9790576"/>
            <a:ext cx="8053159" cy="2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>
                <a:solidFill>
                  <a:srgbClr val="647884"/>
                </a:solidFill>
                <a:latin typeface="Calibri (MS)"/>
                <a:ea typeface="Calibri (MS)"/>
                <a:cs typeface="Calibri (MS)"/>
                <a:sym typeface="Calibri (MS)"/>
              </a:rPr>
              <a:t>CodeFlux • SDGI Global University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430073"/>
            <a:ext cx="2837002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b="true" sz="3152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CareSync</a:t>
            </a:r>
          </a:p>
          <a:p>
            <a:pPr algn="l">
              <a:lnSpc>
                <a:spcPts val="1170"/>
              </a:lnSpc>
            </a:pPr>
            <a:r>
              <a:rPr lang="en-US" b="true" sz="975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HEALTH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043940" y="497576"/>
            <a:ext cx="434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0B4BE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6411" y="1619641"/>
            <a:ext cx="11896639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From Medicine Entry to Safer Action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3675" y="2489073"/>
            <a:ext cx="11896639" cy="29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D6EBED"/>
                </a:solidFill>
                <a:latin typeface="Aptos"/>
                <a:ea typeface="Aptos"/>
                <a:cs typeface="Aptos"/>
                <a:sym typeface="Aptos"/>
              </a:rPr>
              <a:t>A simple workflow designed for low-friction daily use.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46411" y="3198324"/>
            <a:ext cx="3555225" cy="5614225"/>
            <a:chOff x="0" y="0"/>
            <a:chExt cx="4740300" cy="7485634"/>
          </a:xfrm>
        </p:grpSpPr>
        <p:sp>
          <p:nvSpPr>
            <p:cNvPr name="Freeform 7" id="7" descr="add_med.png"/>
            <p:cNvSpPr/>
            <p:nvPr/>
          </p:nvSpPr>
          <p:spPr>
            <a:xfrm flipH="false" flipV="false" rot="0">
              <a:off x="0" y="0"/>
              <a:ext cx="4740275" cy="7485634"/>
            </a:xfrm>
            <a:custGeom>
              <a:avLst/>
              <a:gdLst/>
              <a:ahLst/>
              <a:cxnLst/>
              <a:rect r="r" b="b" t="t" l="l"/>
              <a:pathLst>
                <a:path h="7485634" w="4740275">
                  <a:moveTo>
                    <a:pt x="533400" y="0"/>
                  </a:moveTo>
                  <a:lnTo>
                    <a:pt x="4206875" y="0"/>
                  </a:lnTo>
                  <a:cubicBezTo>
                    <a:pt x="4501464" y="0"/>
                    <a:pt x="4740275" y="238811"/>
                    <a:pt x="4740275" y="533400"/>
                  </a:cubicBezTo>
                  <a:lnTo>
                    <a:pt x="4740275" y="6952234"/>
                  </a:lnTo>
                  <a:cubicBezTo>
                    <a:pt x="4740275" y="7246823"/>
                    <a:pt x="4501464" y="7485634"/>
                    <a:pt x="4206875" y="7485634"/>
                  </a:cubicBezTo>
                  <a:lnTo>
                    <a:pt x="533400" y="7485634"/>
                  </a:lnTo>
                  <a:cubicBezTo>
                    <a:pt x="391934" y="7485634"/>
                    <a:pt x="256261" y="7429436"/>
                    <a:pt x="156229" y="7329405"/>
                  </a:cubicBezTo>
                  <a:cubicBezTo>
                    <a:pt x="56197" y="7229373"/>
                    <a:pt x="0" y="7093700"/>
                    <a:pt x="0" y="6952234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069" r="0" b="-2206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14167" y="3198324"/>
            <a:ext cx="3555225" cy="5614225"/>
            <a:chOff x="0" y="0"/>
            <a:chExt cx="4740300" cy="7485634"/>
          </a:xfrm>
        </p:grpSpPr>
        <p:sp>
          <p:nvSpPr>
            <p:cNvPr name="Freeform 9" id="9" descr="med_details.png"/>
            <p:cNvSpPr/>
            <p:nvPr/>
          </p:nvSpPr>
          <p:spPr>
            <a:xfrm flipH="false" flipV="false" rot="0">
              <a:off x="0" y="0"/>
              <a:ext cx="4740275" cy="7485634"/>
            </a:xfrm>
            <a:custGeom>
              <a:avLst/>
              <a:gdLst/>
              <a:ahLst/>
              <a:cxnLst/>
              <a:rect r="r" b="b" t="t" l="l"/>
              <a:pathLst>
                <a:path h="7485634" w="4740275">
                  <a:moveTo>
                    <a:pt x="533400" y="0"/>
                  </a:moveTo>
                  <a:lnTo>
                    <a:pt x="4206875" y="0"/>
                  </a:lnTo>
                  <a:cubicBezTo>
                    <a:pt x="4501464" y="0"/>
                    <a:pt x="4740275" y="238811"/>
                    <a:pt x="4740275" y="533400"/>
                  </a:cubicBezTo>
                  <a:lnTo>
                    <a:pt x="4740275" y="6952234"/>
                  </a:lnTo>
                  <a:cubicBezTo>
                    <a:pt x="4740275" y="7246823"/>
                    <a:pt x="4501464" y="7485634"/>
                    <a:pt x="4206875" y="7485634"/>
                  </a:cubicBezTo>
                  <a:lnTo>
                    <a:pt x="533400" y="7485634"/>
                  </a:lnTo>
                  <a:cubicBezTo>
                    <a:pt x="391934" y="7485634"/>
                    <a:pt x="256261" y="7429436"/>
                    <a:pt x="156229" y="7329405"/>
                  </a:cubicBezTo>
                  <a:cubicBezTo>
                    <a:pt x="56197" y="7229373"/>
                    <a:pt x="0" y="7093700"/>
                    <a:pt x="0" y="6952234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2069" r="0" b="-220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63549" y="3198324"/>
            <a:ext cx="3555225" cy="5614225"/>
            <a:chOff x="0" y="0"/>
            <a:chExt cx="4740300" cy="7485634"/>
          </a:xfrm>
        </p:grpSpPr>
        <p:sp>
          <p:nvSpPr>
            <p:cNvPr name="Freeform 11" id="11" descr="pill.png"/>
            <p:cNvSpPr/>
            <p:nvPr/>
          </p:nvSpPr>
          <p:spPr>
            <a:xfrm flipH="false" flipV="false" rot="0">
              <a:off x="0" y="0"/>
              <a:ext cx="4740275" cy="7485634"/>
            </a:xfrm>
            <a:custGeom>
              <a:avLst/>
              <a:gdLst/>
              <a:ahLst/>
              <a:cxnLst/>
              <a:rect r="r" b="b" t="t" l="l"/>
              <a:pathLst>
                <a:path h="7485634" w="4740275">
                  <a:moveTo>
                    <a:pt x="533400" y="0"/>
                  </a:moveTo>
                  <a:lnTo>
                    <a:pt x="4206875" y="0"/>
                  </a:lnTo>
                  <a:cubicBezTo>
                    <a:pt x="4501464" y="0"/>
                    <a:pt x="4740275" y="238811"/>
                    <a:pt x="4740275" y="533400"/>
                  </a:cubicBezTo>
                  <a:lnTo>
                    <a:pt x="4740275" y="6952234"/>
                  </a:lnTo>
                  <a:cubicBezTo>
                    <a:pt x="4740275" y="7246823"/>
                    <a:pt x="4501464" y="7485634"/>
                    <a:pt x="4206875" y="7485634"/>
                  </a:cubicBezTo>
                  <a:lnTo>
                    <a:pt x="533400" y="7485634"/>
                  </a:lnTo>
                  <a:cubicBezTo>
                    <a:pt x="391934" y="7485634"/>
                    <a:pt x="256261" y="7429436"/>
                    <a:pt x="156229" y="7329405"/>
                  </a:cubicBezTo>
                  <a:cubicBezTo>
                    <a:pt x="56197" y="7229373"/>
                    <a:pt x="0" y="7093700"/>
                    <a:pt x="0" y="6952234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069" r="0" b="-220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12931" y="3198324"/>
            <a:ext cx="3555225" cy="5614225"/>
            <a:chOff x="0" y="0"/>
            <a:chExt cx="4740300" cy="7485634"/>
          </a:xfrm>
        </p:grpSpPr>
        <p:sp>
          <p:nvSpPr>
            <p:cNvPr name="Freeform 13" id="13" descr="family.png"/>
            <p:cNvSpPr/>
            <p:nvPr/>
          </p:nvSpPr>
          <p:spPr>
            <a:xfrm flipH="false" flipV="false" rot="0">
              <a:off x="0" y="0"/>
              <a:ext cx="4740275" cy="7485634"/>
            </a:xfrm>
            <a:custGeom>
              <a:avLst/>
              <a:gdLst/>
              <a:ahLst/>
              <a:cxnLst/>
              <a:rect r="r" b="b" t="t" l="l"/>
              <a:pathLst>
                <a:path h="7485634" w="4740275">
                  <a:moveTo>
                    <a:pt x="533400" y="0"/>
                  </a:moveTo>
                  <a:lnTo>
                    <a:pt x="4206875" y="0"/>
                  </a:lnTo>
                  <a:cubicBezTo>
                    <a:pt x="4501464" y="0"/>
                    <a:pt x="4740275" y="238811"/>
                    <a:pt x="4740275" y="533400"/>
                  </a:cubicBezTo>
                  <a:lnTo>
                    <a:pt x="4740275" y="6952234"/>
                  </a:lnTo>
                  <a:cubicBezTo>
                    <a:pt x="4740275" y="7246823"/>
                    <a:pt x="4501464" y="7485634"/>
                    <a:pt x="4206875" y="7485634"/>
                  </a:cubicBezTo>
                  <a:lnTo>
                    <a:pt x="533400" y="7485634"/>
                  </a:lnTo>
                  <a:cubicBezTo>
                    <a:pt x="391934" y="7485634"/>
                    <a:pt x="256261" y="7429436"/>
                    <a:pt x="156229" y="7329405"/>
                  </a:cubicBezTo>
                  <a:cubicBezTo>
                    <a:pt x="56197" y="7229373"/>
                    <a:pt x="0" y="7093700"/>
                    <a:pt x="0" y="6952234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2069" r="0" b="-2206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3608" y="9718519"/>
            <a:ext cx="16609333" cy="20593"/>
            <a:chOff x="0" y="0"/>
            <a:chExt cx="22145777" cy="274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45752" cy="27432"/>
            </a:xfrm>
            <a:custGeom>
              <a:avLst/>
              <a:gdLst/>
              <a:ahLst/>
              <a:cxnLst/>
              <a:rect r="r" b="b" t="t" l="l"/>
              <a:pathLst>
                <a:path h="27432" w="22145752">
                  <a:moveTo>
                    <a:pt x="0" y="0"/>
                  </a:moveTo>
                  <a:lnTo>
                    <a:pt x="22145752" y="0"/>
                  </a:lnTo>
                  <a:lnTo>
                    <a:pt x="22145752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7E6E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23608" y="9765697"/>
            <a:ext cx="805315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>
                <a:solidFill>
                  <a:srgbClr val="FAFAFC"/>
                </a:solidFill>
                <a:latin typeface="Calibri (MS)"/>
                <a:ea typeface="Calibri (MS)"/>
                <a:cs typeface="Calibri (MS)"/>
                <a:sym typeface="Calibri (MS)"/>
              </a:rPr>
              <a:t>CodeFlux • SDGI Global University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430073"/>
            <a:ext cx="2837002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CareSync</a:t>
            </a:r>
          </a:p>
          <a:p>
            <a:pPr algn="l">
              <a:lnSpc>
                <a:spcPts val="1170"/>
              </a:lnSpc>
            </a:pPr>
            <a:r>
              <a:rPr lang="en-US" sz="975" b="true">
                <a:solidFill>
                  <a:srgbClr val="189A97"/>
                </a:solidFill>
                <a:latin typeface="Aptos Bold"/>
                <a:ea typeface="Aptos Bold"/>
                <a:cs typeface="Aptos Bold"/>
                <a:sym typeface="Aptos Bold"/>
              </a:rPr>
              <a:t>HEALTH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043940" y="497576"/>
            <a:ext cx="434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0B4BE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6411" y="1443221"/>
            <a:ext cx="13741825" cy="71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4"/>
              </a:lnSpc>
            </a:pPr>
            <a:r>
              <a:rPr lang="en-US" sz="4678" b="true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AI + OCR: Making Medicine Information Accessible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2389718"/>
            <a:ext cx="1189663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AFDFD"/>
                </a:solidFill>
                <a:latin typeface="Aptos"/>
                <a:ea typeface="Aptos"/>
                <a:cs typeface="Aptos"/>
                <a:sym typeface="Aptos"/>
              </a:rPr>
              <a:t>The AI layer helps users ask questions; OCR reduces manual entry from prescriptions and reports.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7873" y="3218631"/>
            <a:ext cx="3967020" cy="5682863"/>
            <a:chOff x="0" y="0"/>
            <a:chExt cx="5289360" cy="757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89423" cy="7577201"/>
            </a:xfrm>
            <a:custGeom>
              <a:avLst/>
              <a:gdLst/>
              <a:ahLst/>
              <a:cxnLst/>
              <a:rect r="r" b="b" t="t" l="l"/>
              <a:pathLst>
                <a:path h="7577201" w="5289423">
                  <a:moveTo>
                    <a:pt x="533400" y="0"/>
                  </a:moveTo>
                  <a:lnTo>
                    <a:pt x="4756023" y="0"/>
                  </a:lnTo>
                  <a:cubicBezTo>
                    <a:pt x="5050611" y="0"/>
                    <a:pt x="5289423" y="238811"/>
                    <a:pt x="5289423" y="533400"/>
                  </a:cubicBezTo>
                  <a:lnTo>
                    <a:pt x="5289423" y="7043801"/>
                  </a:lnTo>
                  <a:cubicBezTo>
                    <a:pt x="5289423" y="7185268"/>
                    <a:pt x="5233226" y="7320940"/>
                    <a:pt x="5133194" y="7420972"/>
                  </a:cubicBezTo>
                  <a:cubicBezTo>
                    <a:pt x="5033162" y="7521004"/>
                    <a:pt x="4897489" y="7577201"/>
                    <a:pt x="4756023" y="7577201"/>
                  </a:cubicBezTo>
                  <a:lnTo>
                    <a:pt x="533400" y="7577201"/>
                  </a:lnTo>
                  <a:cubicBezTo>
                    <a:pt x="391934" y="7577201"/>
                    <a:pt x="256261" y="7521004"/>
                    <a:pt x="156229" y="7420972"/>
                  </a:cubicBezTo>
                  <a:cubicBezTo>
                    <a:pt x="56197" y="7320940"/>
                    <a:pt x="0" y="7185268"/>
                    <a:pt x="0" y="7043801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5077" r="0" b="-423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4933" y="3218631"/>
            <a:ext cx="3967020" cy="5682863"/>
            <a:chOff x="0" y="0"/>
            <a:chExt cx="5289360" cy="757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89423" cy="7577201"/>
            </a:xfrm>
            <a:custGeom>
              <a:avLst/>
              <a:gdLst/>
              <a:ahLst/>
              <a:cxnLst/>
              <a:rect r="r" b="b" t="t" l="l"/>
              <a:pathLst>
                <a:path h="7577201" w="5289423">
                  <a:moveTo>
                    <a:pt x="533400" y="0"/>
                  </a:moveTo>
                  <a:lnTo>
                    <a:pt x="4756023" y="0"/>
                  </a:lnTo>
                  <a:cubicBezTo>
                    <a:pt x="5050611" y="0"/>
                    <a:pt x="5289423" y="238811"/>
                    <a:pt x="5289423" y="533400"/>
                  </a:cubicBezTo>
                  <a:lnTo>
                    <a:pt x="5289423" y="7043801"/>
                  </a:lnTo>
                  <a:cubicBezTo>
                    <a:pt x="5289423" y="7185268"/>
                    <a:pt x="5233226" y="7320940"/>
                    <a:pt x="5133194" y="7420972"/>
                  </a:cubicBezTo>
                  <a:cubicBezTo>
                    <a:pt x="5033162" y="7521004"/>
                    <a:pt x="4897489" y="7577201"/>
                    <a:pt x="4756023" y="7577201"/>
                  </a:cubicBezTo>
                  <a:lnTo>
                    <a:pt x="533400" y="7577201"/>
                  </a:lnTo>
                  <a:cubicBezTo>
                    <a:pt x="391934" y="7577201"/>
                    <a:pt x="256261" y="7521004"/>
                    <a:pt x="156229" y="7420972"/>
                  </a:cubicBezTo>
                  <a:cubicBezTo>
                    <a:pt x="56197" y="7320940"/>
                    <a:pt x="0" y="7185268"/>
                    <a:pt x="0" y="7043801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7084" r="0" b="-222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81993" y="3218631"/>
            <a:ext cx="6877660" cy="1867405"/>
            <a:chOff x="0" y="0"/>
            <a:chExt cx="9170213" cy="24898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70289" cy="2489962"/>
            </a:xfrm>
            <a:custGeom>
              <a:avLst/>
              <a:gdLst/>
              <a:ahLst/>
              <a:cxnLst/>
              <a:rect r="r" b="b" t="t" l="l"/>
              <a:pathLst>
                <a:path h="2489962" w="9170289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8755253" y="0"/>
                  </a:lnTo>
                  <a:cubicBezTo>
                    <a:pt x="8984488" y="0"/>
                    <a:pt x="9170289" y="185801"/>
                    <a:pt x="9170289" y="415036"/>
                  </a:cubicBezTo>
                  <a:lnTo>
                    <a:pt x="9170289" y="2074926"/>
                  </a:lnTo>
                  <a:cubicBezTo>
                    <a:pt x="9170289" y="2304161"/>
                    <a:pt x="8984488" y="2489962"/>
                    <a:pt x="8755253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0C1F30"/>
            </a:solidFill>
            <a:ln w="14299" cap="sq">
              <a:solidFill>
                <a:srgbClr val="0C1F3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308774" y="3472863"/>
            <a:ext cx="96088" cy="1358941"/>
            <a:chOff x="0" y="0"/>
            <a:chExt cx="128118" cy="18119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43" cy="1811909"/>
            </a:xfrm>
            <a:custGeom>
              <a:avLst/>
              <a:gdLst/>
              <a:ahLst/>
              <a:cxnLst/>
              <a:rect r="r" b="b" t="t" l="l"/>
              <a:pathLst>
                <a:path h="1811909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790573"/>
                  </a:lnTo>
                  <a:cubicBezTo>
                    <a:pt x="128143" y="1802384"/>
                    <a:pt x="118618" y="1811909"/>
                    <a:pt x="106807" y="1811909"/>
                  </a:cubicBezTo>
                  <a:lnTo>
                    <a:pt x="21336" y="1811909"/>
                  </a:lnTo>
                  <a:cubicBezTo>
                    <a:pt x="9525" y="1811909"/>
                    <a:pt x="0" y="1802384"/>
                    <a:pt x="0" y="1790573"/>
                  </a:cubicBezTo>
                  <a:close/>
                </a:path>
              </a:pathLst>
            </a:custGeom>
            <a:solidFill>
              <a:srgbClr val="41C9D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702195" y="3518583"/>
            <a:ext cx="5925512" cy="132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AI Assistant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D2E6E8"/>
                </a:solidFill>
                <a:latin typeface="Aptos"/>
                <a:ea typeface="Aptos"/>
                <a:cs typeface="Aptos"/>
                <a:sym typeface="Aptos"/>
              </a:rPr>
              <a:t>Powered by Gemini 3.5 Flash; users can ask medicine-related questions and receive informational guidance.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081993" y="5414905"/>
            <a:ext cx="6877660" cy="1867405"/>
            <a:chOff x="0" y="0"/>
            <a:chExt cx="9170213" cy="24898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70289" cy="2489962"/>
            </a:xfrm>
            <a:custGeom>
              <a:avLst/>
              <a:gdLst/>
              <a:ahLst/>
              <a:cxnLst/>
              <a:rect r="r" b="b" t="t" l="l"/>
              <a:pathLst>
                <a:path h="2489962" w="9170289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8755253" y="0"/>
                  </a:lnTo>
                  <a:cubicBezTo>
                    <a:pt x="8984488" y="0"/>
                    <a:pt x="9170289" y="185801"/>
                    <a:pt x="9170289" y="415036"/>
                  </a:cubicBezTo>
                  <a:lnTo>
                    <a:pt x="9170289" y="2074926"/>
                  </a:lnTo>
                  <a:cubicBezTo>
                    <a:pt x="9170289" y="2304161"/>
                    <a:pt x="8984488" y="2489962"/>
                    <a:pt x="8755253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0C1F30"/>
            </a:solidFill>
            <a:ln w="14299" cap="sq">
              <a:solidFill>
                <a:srgbClr val="0C1F3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308774" y="5669137"/>
            <a:ext cx="96088" cy="1358941"/>
            <a:chOff x="0" y="0"/>
            <a:chExt cx="128118" cy="18119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143" cy="1811909"/>
            </a:xfrm>
            <a:custGeom>
              <a:avLst/>
              <a:gdLst/>
              <a:ahLst/>
              <a:cxnLst/>
              <a:rect r="r" b="b" t="t" l="l"/>
              <a:pathLst>
                <a:path h="1811909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790573"/>
                  </a:lnTo>
                  <a:cubicBezTo>
                    <a:pt x="128143" y="1802384"/>
                    <a:pt x="118618" y="1811909"/>
                    <a:pt x="106807" y="1811909"/>
                  </a:cubicBezTo>
                  <a:lnTo>
                    <a:pt x="21336" y="1811909"/>
                  </a:lnTo>
                  <a:cubicBezTo>
                    <a:pt x="9525" y="1811909"/>
                    <a:pt x="0" y="1802384"/>
                    <a:pt x="0" y="1790573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02195" y="5714857"/>
            <a:ext cx="5925512" cy="132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OCR Scanner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D2E6E8"/>
                </a:solidFill>
                <a:latin typeface="Aptos"/>
                <a:ea typeface="Aptos"/>
                <a:cs typeface="Aptos"/>
                <a:sym typeface="Aptos"/>
              </a:rPr>
              <a:t>Scan a prescription / medical report with camera or upload an image, then review.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81993" y="7611180"/>
            <a:ext cx="6877660" cy="1112434"/>
            <a:chOff x="0" y="0"/>
            <a:chExt cx="9170213" cy="14832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70288" cy="1483360"/>
            </a:xfrm>
            <a:custGeom>
              <a:avLst/>
              <a:gdLst/>
              <a:ahLst/>
              <a:cxnLst/>
              <a:rect r="r" b="b" t="t" l="l"/>
              <a:pathLst>
                <a:path h="1483360" w="9170288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8923020" y="0"/>
                  </a:lnTo>
                  <a:cubicBezTo>
                    <a:pt x="9059545" y="0"/>
                    <a:pt x="9170288" y="110744"/>
                    <a:pt x="9170288" y="247269"/>
                  </a:cubicBezTo>
                  <a:lnTo>
                    <a:pt x="9170288" y="1236091"/>
                  </a:lnTo>
                  <a:cubicBezTo>
                    <a:pt x="9170288" y="1372616"/>
                    <a:pt x="9059545" y="1483360"/>
                    <a:pt x="8923020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0C1F30"/>
            </a:solidFill>
            <a:ln w="14299" cap="sq">
              <a:solidFill>
                <a:srgbClr val="0C1F3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308774" y="7865412"/>
            <a:ext cx="96088" cy="603980"/>
            <a:chOff x="0" y="0"/>
            <a:chExt cx="128118" cy="8053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143" cy="805307"/>
            </a:xfrm>
            <a:custGeom>
              <a:avLst/>
              <a:gdLst/>
              <a:ahLst/>
              <a:cxnLst/>
              <a:rect r="r" b="b" t="t" l="l"/>
              <a:pathLst>
                <a:path h="805307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783971"/>
                  </a:lnTo>
                  <a:cubicBezTo>
                    <a:pt x="128143" y="795782"/>
                    <a:pt x="118618" y="805307"/>
                    <a:pt x="106807" y="805307"/>
                  </a:cubicBezTo>
                  <a:lnTo>
                    <a:pt x="21336" y="805307"/>
                  </a:lnTo>
                  <a:cubicBezTo>
                    <a:pt x="9525" y="805307"/>
                    <a:pt x="0" y="795782"/>
                    <a:pt x="0" y="783971"/>
                  </a:cubicBezTo>
                  <a:close/>
                </a:path>
              </a:pathLst>
            </a:custGeom>
            <a:solidFill>
              <a:srgbClr val="EFB549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702195" y="7911132"/>
            <a:ext cx="5925512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Safety by design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D2E6E8"/>
                </a:solidFill>
                <a:latin typeface="Aptos"/>
                <a:ea typeface="Aptos"/>
                <a:cs typeface="Aptos"/>
                <a:sym typeface="Aptos"/>
              </a:rPr>
              <a:t>The app reminds users to consult a doctor for personal medical decisions.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23608" y="9718519"/>
            <a:ext cx="16609333" cy="20593"/>
            <a:chOff x="0" y="0"/>
            <a:chExt cx="22145777" cy="2745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45752" cy="27432"/>
            </a:xfrm>
            <a:custGeom>
              <a:avLst/>
              <a:gdLst/>
              <a:ahLst/>
              <a:cxnLst/>
              <a:rect r="r" b="b" t="t" l="l"/>
              <a:pathLst>
                <a:path h="27432" w="22145752">
                  <a:moveTo>
                    <a:pt x="0" y="0"/>
                  </a:moveTo>
                  <a:lnTo>
                    <a:pt x="22145752" y="0"/>
                  </a:lnTo>
                  <a:lnTo>
                    <a:pt x="22145752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7E6E9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46411" y="9828595"/>
            <a:ext cx="8053159" cy="2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>
                <a:solidFill>
                  <a:srgbClr val="647884"/>
                </a:solidFill>
                <a:latin typeface="Calibri (MS)"/>
                <a:ea typeface="Calibri (MS)"/>
                <a:cs typeface="Calibri (MS)"/>
                <a:sym typeface="Calibri (MS)"/>
              </a:rPr>
              <a:t>CareSync • AI-assisted, not a replacement for clinical care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2454403"/>
            <a:ext cx="8341913" cy="29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47884"/>
                </a:solidFill>
                <a:latin typeface="Aptos"/>
                <a:ea typeface="Aptos"/>
                <a:cs typeface="Aptos"/>
                <a:sym typeface="Aptos"/>
              </a:rPr>
              <a:t>Family members can stay informed while SOS provides a fast escalation path.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3719" y="3081366"/>
            <a:ext cx="5093189" cy="2759640"/>
            <a:chOff x="0" y="0"/>
            <a:chExt cx="6790919" cy="36795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9094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79094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177661" y="0"/>
                  </a:lnTo>
                  <a:cubicBezTo>
                    <a:pt x="6516370" y="0"/>
                    <a:pt x="6790944" y="274574"/>
                    <a:pt x="6790944" y="613283"/>
                  </a:cubicBezTo>
                  <a:lnTo>
                    <a:pt x="6790944" y="3066288"/>
                  </a:lnTo>
                  <a:cubicBezTo>
                    <a:pt x="6790944" y="3404997"/>
                    <a:pt x="6516370" y="3679571"/>
                    <a:pt x="617766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41C9D2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180500" y="3335598"/>
            <a:ext cx="96088" cy="2251186"/>
            <a:chOff x="0" y="0"/>
            <a:chExt cx="128118" cy="30015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143" cy="3001518"/>
            </a:xfrm>
            <a:custGeom>
              <a:avLst/>
              <a:gdLst/>
              <a:ahLst/>
              <a:cxnLst/>
              <a:rect r="r" b="b" t="t" l="l"/>
              <a:pathLst>
                <a:path h="3001518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2980182"/>
                  </a:lnTo>
                  <a:cubicBezTo>
                    <a:pt x="128143" y="2991993"/>
                    <a:pt x="118618" y="3001518"/>
                    <a:pt x="106807" y="3001518"/>
                  </a:cubicBezTo>
                  <a:lnTo>
                    <a:pt x="21336" y="3001518"/>
                  </a:lnTo>
                  <a:cubicBezTo>
                    <a:pt x="9525" y="3001518"/>
                    <a:pt x="0" y="2991993"/>
                    <a:pt x="0" y="2980182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53719" y="6238513"/>
            <a:ext cx="5093189" cy="2141944"/>
            <a:chOff x="0" y="0"/>
            <a:chExt cx="6790919" cy="28559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90944" cy="2855976"/>
            </a:xfrm>
            <a:custGeom>
              <a:avLst/>
              <a:gdLst/>
              <a:ahLst/>
              <a:cxnLst/>
              <a:rect r="r" b="b" t="t" l="l"/>
              <a:pathLst>
                <a:path h="2855976" w="6790944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314948" y="0"/>
                  </a:lnTo>
                  <a:cubicBezTo>
                    <a:pt x="6577838" y="0"/>
                    <a:pt x="6790944" y="213106"/>
                    <a:pt x="6790944" y="475996"/>
                  </a:cubicBezTo>
                  <a:lnTo>
                    <a:pt x="6790944" y="2379980"/>
                  </a:lnTo>
                  <a:cubicBezTo>
                    <a:pt x="6790944" y="2642870"/>
                    <a:pt x="6577838" y="2855976"/>
                    <a:pt x="6314948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189A97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0500" y="6492745"/>
            <a:ext cx="96088" cy="1633480"/>
            <a:chOff x="0" y="0"/>
            <a:chExt cx="128118" cy="21779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143" cy="2177923"/>
            </a:xfrm>
            <a:custGeom>
              <a:avLst/>
              <a:gdLst/>
              <a:ahLst/>
              <a:cxnLst/>
              <a:rect r="r" b="b" t="t" l="l"/>
              <a:pathLst>
                <a:path h="2177923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2156587"/>
                  </a:lnTo>
                  <a:cubicBezTo>
                    <a:pt x="128143" y="2168398"/>
                    <a:pt x="118618" y="2177923"/>
                    <a:pt x="106807" y="2177923"/>
                  </a:cubicBezTo>
                  <a:lnTo>
                    <a:pt x="21336" y="2177923"/>
                  </a:lnTo>
                  <a:cubicBezTo>
                    <a:pt x="9525" y="2177923"/>
                    <a:pt x="0" y="2168398"/>
                    <a:pt x="0" y="2156587"/>
                  </a:cubicBezTo>
                  <a:close/>
                </a:path>
              </a:pathLst>
            </a:custGeom>
            <a:solidFill>
              <a:srgbClr val="DC4A5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3608" y="9718519"/>
            <a:ext cx="16609333" cy="20593"/>
            <a:chOff x="0" y="0"/>
            <a:chExt cx="22145777" cy="274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52" cy="27432"/>
            </a:xfrm>
            <a:custGeom>
              <a:avLst/>
              <a:gdLst/>
              <a:ahLst/>
              <a:cxnLst/>
              <a:rect r="r" b="b" t="t" l="l"/>
              <a:pathLst>
                <a:path h="27432" w="22145752">
                  <a:moveTo>
                    <a:pt x="0" y="0"/>
                  </a:moveTo>
                  <a:lnTo>
                    <a:pt x="22145752" y="0"/>
                  </a:lnTo>
                  <a:lnTo>
                    <a:pt x="22145752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7E6E9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167678" y="2917436"/>
            <a:ext cx="3229147" cy="5847140"/>
          </a:xfrm>
          <a:custGeom>
            <a:avLst/>
            <a:gdLst/>
            <a:ahLst/>
            <a:cxnLst/>
            <a:rect r="r" b="b" t="t" l="l"/>
            <a:pathLst>
              <a:path h="5847140" w="3229147">
                <a:moveTo>
                  <a:pt x="0" y="0"/>
                </a:moveTo>
                <a:lnTo>
                  <a:pt x="3229147" y="0"/>
                </a:lnTo>
                <a:lnTo>
                  <a:pt x="3229147" y="5847140"/>
                </a:lnTo>
                <a:lnTo>
                  <a:pt x="0" y="5847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379" r="0" b="-749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013357" y="2917436"/>
            <a:ext cx="2921379" cy="5847140"/>
          </a:xfrm>
          <a:custGeom>
            <a:avLst/>
            <a:gdLst/>
            <a:ahLst/>
            <a:cxnLst/>
            <a:rect r="r" b="b" t="t" l="l"/>
            <a:pathLst>
              <a:path h="5847140" w="2921379">
                <a:moveTo>
                  <a:pt x="0" y="0"/>
                </a:moveTo>
                <a:lnTo>
                  <a:pt x="2921379" y="0"/>
                </a:lnTo>
                <a:lnTo>
                  <a:pt x="2921379" y="5847140"/>
                </a:lnTo>
                <a:lnTo>
                  <a:pt x="0" y="5847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433" r="0" b="-344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46411" y="430073"/>
            <a:ext cx="2837002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b="true" sz="3152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CareSync</a:t>
            </a:r>
          </a:p>
          <a:p>
            <a:pPr algn="l">
              <a:lnSpc>
                <a:spcPts val="1170"/>
              </a:lnSpc>
            </a:pPr>
            <a:r>
              <a:rPr lang="en-US" b="true" sz="975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HEALTH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43940" y="497576"/>
            <a:ext cx="434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0B4BE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3608" y="1491086"/>
            <a:ext cx="11175885" cy="79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8"/>
              </a:lnSpc>
            </a:pPr>
            <a:r>
              <a:rPr lang="en-US" b="true" sz="5223">
                <a:solidFill>
                  <a:srgbClr val="E8E9F6"/>
                </a:solidFill>
                <a:latin typeface="Aptos Bold"/>
                <a:ea typeface="Aptos Bold"/>
                <a:cs typeface="Aptos Bold"/>
                <a:sym typeface="Aptos Bold"/>
              </a:rPr>
              <a:t>Connected Care &amp; Emergency Safety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3930" y="3381318"/>
            <a:ext cx="4141041" cy="221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Family &amp; Guardian Network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Connect guardians using a patient connection code. Guardians receive medication updates and emergency SOS alerts.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3930" y="6538465"/>
            <a:ext cx="4141041" cy="159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SOS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Send an emergency notification to the registered emergency contact with location and medication status.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675" y="9790576"/>
            <a:ext cx="8053159" cy="2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>
                <a:solidFill>
                  <a:srgbClr val="647884"/>
                </a:solidFill>
                <a:latin typeface="Calibri (MS)"/>
                <a:ea typeface="Calibri (MS)"/>
                <a:cs typeface="Calibri (MS)"/>
                <a:sym typeface="Calibri (MS)"/>
              </a:rPr>
              <a:t>CodeFlux • SDGI Global University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430073"/>
            <a:ext cx="2837002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b="true" sz="3152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CareSync</a:t>
            </a:r>
          </a:p>
          <a:p>
            <a:pPr algn="l">
              <a:lnSpc>
                <a:spcPts val="1170"/>
              </a:lnSpc>
            </a:pPr>
            <a:r>
              <a:rPr lang="en-US" b="true" sz="975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HEALTH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043940" y="497576"/>
            <a:ext cx="434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0B4BE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3608" y="1548403"/>
            <a:ext cx="11896639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6F8F9"/>
                </a:solidFill>
                <a:latin typeface="Aptos Bold"/>
                <a:ea typeface="Aptos Bold"/>
                <a:cs typeface="Aptos Bold"/>
                <a:sym typeface="Aptos Bold"/>
              </a:rPr>
              <a:t>Technology &amp;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9548" y="2417836"/>
            <a:ext cx="6669101" cy="29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6F8F9"/>
                </a:solidFill>
                <a:latin typeface="Aptos"/>
                <a:ea typeface="Aptos"/>
                <a:cs typeface="Aptos"/>
                <a:sym typeface="Aptos"/>
              </a:rPr>
              <a:t>A practical stack supporting a focused healthcare companion.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5092" y="3012729"/>
            <a:ext cx="5161817" cy="1318336"/>
            <a:chOff x="0" y="0"/>
            <a:chExt cx="6882422" cy="17577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82384" cy="1757807"/>
            </a:xfrm>
            <a:custGeom>
              <a:avLst/>
              <a:gdLst/>
              <a:ahLst/>
              <a:cxnLst/>
              <a:rect r="r" b="b" t="t" l="l"/>
              <a:pathLst>
                <a:path h="1757807" w="6882384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6589395" y="0"/>
                  </a:lnTo>
                  <a:cubicBezTo>
                    <a:pt x="6751193" y="0"/>
                    <a:pt x="6882384" y="131191"/>
                    <a:pt x="6882384" y="292989"/>
                  </a:cubicBezTo>
                  <a:lnTo>
                    <a:pt x="6882384" y="1464818"/>
                  </a:lnTo>
                  <a:cubicBezTo>
                    <a:pt x="6882384" y="1626616"/>
                    <a:pt x="6751193" y="1757807"/>
                    <a:pt x="6589395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AFAFC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11863" y="3266961"/>
            <a:ext cx="96088" cy="809873"/>
            <a:chOff x="0" y="0"/>
            <a:chExt cx="128118" cy="10798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43" cy="1079881"/>
            </a:xfrm>
            <a:custGeom>
              <a:avLst/>
              <a:gdLst/>
              <a:ahLst/>
              <a:cxnLst/>
              <a:rect r="r" b="b" t="t" l="l"/>
              <a:pathLst>
                <a:path h="1079881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058545"/>
                  </a:lnTo>
                  <a:cubicBezTo>
                    <a:pt x="128143" y="1070356"/>
                    <a:pt x="118618" y="1079881"/>
                    <a:pt x="106807" y="1079881"/>
                  </a:cubicBezTo>
                  <a:lnTo>
                    <a:pt x="21336" y="1079881"/>
                  </a:lnTo>
                  <a:cubicBezTo>
                    <a:pt x="9525" y="1079881"/>
                    <a:pt x="0" y="1070229"/>
                    <a:pt x="0" y="1058545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96444" y="3250873"/>
            <a:ext cx="2313683" cy="83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42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Flutter</a:t>
            </a:r>
          </a:p>
          <a:p>
            <a:pPr algn="l">
              <a:lnSpc>
                <a:spcPts val="2632"/>
              </a:lnSpc>
            </a:pPr>
            <a:r>
              <a:rPr lang="en-US" sz="2193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Mobile application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13043" y="3012729"/>
            <a:ext cx="5161817" cy="1318336"/>
            <a:chOff x="0" y="0"/>
            <a:chExt cx="6882422" cy="1757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2384" cy="1757807"/>
            </a:xfrm>
            <a:custGeom>
              <a:avLst/>
              <a:gdLst/>
              <a:ahLst/>
              <a:cxnLst/>
              <a:rect r="r" b="b" t="t" l="l"/>
              <a:pathLst>
                <a:path h="1757807" w="6882384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6589395" y="0"/>
                  </a:lnTo>
                  <a:cubicBezTo>
                    <a:pt x="6751193" y="0"/>
                    <a:pt x="6882384" y="131191"/>
                    <a:pt x="6882384" y="292989"/>
                  </a:cubicBezTo>
                  <a:lnTo>
                    <a:pt x="6882384" y="1464818"/>
                  </a:lnTo>
                  <a:cubicBezTo>
                    <a:pt x="6882384" y="1626616"/>
                    <a:pt x="6751193" y="1757807"/>
                    <a:pt x="6589395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AFDFD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739823" y="3266961"/>
            <a:ext cx="96088" cy="809873"/>
            <a:chOff x="0" y="0"/>
            <a:chExt cx="128118" cy="10798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143" cy="1079881"/>
            </a:xfrm>
            <a:custGeom>
              <a:avLst/>
              <a:gdLst/>
              <a:ahLst/>
              <a:cxnLst/>
              <a:rect r="r" b="b" t="t" l="l"/>
              <a:pathLst>
                <a:path h="1079881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058545"/>
                  </a:lnTo>
                  <a:cubicBezTo>
                    <a:pt x="128143" y="1070356"/>
                    <a:pt x="118618" y="1079881"/>
                    <a:pt x="106807" y="1079881"/>
                  </a:cubicBezTo>
                  <a:lnTo>
                    <a:pt x="21336" y="1079881"/>
                  </a:lnTo>
                  <a:cubicBezTo>
                    <a:pt x="9525" y="1079881"/>
                    <a:pt x="0" y="1070229"/>
                    <a:pt x="0" y="1058545"/>
                  </a:cubicBezTo>
                  <a:close/>
                </a:path>
              </a:pathLst>
            </a:custGeom>
            <a:solidFill>
              <a:srgbClr val="41C9D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921637" y="3250873"/>
            <a:ext cx="3171372" cy="77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4"/>
              </a:lnSpc>
            </a:pPr>
            <a:r>
              <a:rPr lang="en-US" sz="3095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Firebase</a:t>
            </a:r>
          </a:p>
          <a:p>
            <a:pPr algn="l">
              <a:lnSpc>
                <a:spcPts val="2437"/>
              </a:lnSpc>
            </a:pPr>
            <a:r>
              <a:rPr lang="en-US" sz="2031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Backend / platform services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141003" y="3012729"/>
            <a:ext cx="5161817" cy="1318336"/>
            <a:chOff x="0" y="0"/>
            <a:chExt cx="6882422" cy="17577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82384" cy="1757807"/>
            </a:xfrm>
            <a:custGeom>
              <a:avLst/>
              <a:gdLst/>
              <a:ahLst/>
              <a:cxnLst/>
              <a:rect r="r" b="b" t="t" l="l"/>
              <a:pathLst>
                <a:path h="1757807" w="6882384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6589395" y="0"/>
                  </a:lnTo>
                  <a:cubicBezTo>
                    <a:pt x="6751193" y="0"/>
                    <a:pt x="6882384" y="131191"/>
                    <a:pt x="6882384" y="292989"/>
                  </a:cubicBezTo>
                  <a:lnTo>
                    <a:pt x="6882384" y="1464818"/>
                  </a:lnTo>
                  <a:cubicBezTo>
                    <a:pt x="6882384" y="1626616"/>
                    <a:pt x="6751193" y="1757807"/>
                    <a:pt x="6589395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AFDFD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367774" y="3266961"/>
            <a:ext cx="96088" cy="809873"/>
            <a:chOff x="0" y="0"/>
            <a:chExt cx="128118" cy="10798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143" cy="1079881"/>
            </a:xfrm>
            <a:custGeom>
              <a:avLst/>
              <a:gdLst/>
              <a:ahLst/>
              <a:cxnLst/>
              <a:rect r="r" b="b" t="t" l="l"/>
              <a:pathLst>
                <a:path h="1079881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058545"/>
                  </a:lnTo>
                  <a:cubicBezTo>
                    <a:pt x="128143" y="1070356"/>
                    <a:pt x="118618" y="1079881"/>
                    <a:pt x="106807" y="1079881"/>
                  </a:cubicBezTo>
                  <a:lnTo>
                    <a:pt x="21336" y="1079881"/>
                  </a:lnTo>
                  <a:cubicBezTo>
                    <a:pt x="9525" y="1079881"/>
                    <a:pt x="0" y="1070229"/>
                    <a:pt x="0" y="1058545"/>
                  </a:cubicBezTo>
                  <a:close/>
                </a:path>
              </a:pathLst>
            </a:custGeom>
            <a:solidFill>
              <a:srgbClr val="EFB549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549588" y="3250873"/>
            <a:ext cx="1530001" cy="77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4"/>
              </a:lnSpc>
            </a:pPr>
            <a:r>
              <a:rPr lang="en-US" sz="3095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FastAPI</a:t>
            </a:r>
          </a:p>
          <a:p>
            <a:pPr algn="l">
              <a:lnSpc>
                <a:spcPts val="2437"/>
              </a:lnSpc>
            </a:pPr>
            <a:r>
              <a:rPr lang="en-US" sz="2031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API layer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85092" y="4728572"/>
            <a:ext cx="5161817" cy="1318336"/>
            <a:chOff x="0" y="0"/>
            <a:chExt cx="6882422" cy="17577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82384" cy="1757807"/>
            </a:xfrm>
            <a:custGeom>
              <a:avLst/>
              <a:gdLst/>
              <a:ahLst/>
              <a:cxnLst/>
              <a:rect r="r" b="b" t="t" l="l"/>
              <a:pathLst>
                <a:path h="1757807" w="6882384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6589395" y="0"/>
                  </a:lnTo>
                  <a:cubicBezTo>
                    <a:pt x="6751193" y="0"/>
                    <a:pt x="6882384" y="131191"/>
                    <a:pt x="6882384" y="292989"/>
                  </a:cubicBezTo>
                  <a:lnTo>
                    <a:pt x="6882384" y="1464818"/>
                  </a:lnTo>
                  <a:cubicBezTo>
                    <a:pt x="6882384" y="1626616"/>
                    <a:pt x="6751193" y="1757807"/>
                    <a:pt x="6589395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AFDFD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11863" y="4982804"/>
            <a:ext cx="96088" cy="809873"/>
            <a:chOff x="0" y="0"/>
            <a:chExt cx="128118" cy="10798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143" cy="1079881"/>
            </a:xfrm>
            <a:custGeom>
              <a:avLst/>
              <a:gdLst/>
              <a:ahLst/>
              <a:cxnLst/>
              <a:rect r="r" b="b" t="t" l="l"/>
              <a:pathLst>
                <a:path h="1079881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058545"/>
                  </a:lnTo>
                  <a:cubicBezTo>
                    <a:pt x="128143" y="1070356"/>
                    <a:pt x="118618" y="1079881"/>
                    <a:pt x="106807" y="1079881"/>
                  </a:cubicBezTo>
                  <a:lnTo>
                    <a:pt x="21336" y="1079881"/>
                  </a:lnTo>
                  <a:cubicBezTo>
                    <a:pt x="9525" y="1079881"/>
                    <a:pt x="0" y="1070229"/>
                    <a:pt x="0" y="1058545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96444" y="4982804"/>
            <a:ext cx="3124510" cy="779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3122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Gemini 3.5 Flash</a:t>
            </a:r>
          </a:p>
          <a:p>
            <a:pPr algn="l">
              <a:lnSpc>
                <a:spcPts val="2458"/>
              </a:lnSpc>
            </a:pPr>
            <a:r>
              <a:rPr lang="en-US" sz="2048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AI Assistant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513043" y="4728572"/>
            <a:ext cx="5161817" cy="1318336"/>
            <a:chOff x="0" y="0"/>
            <a:chExt cx="6882422" cy="17577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82384" cy="1757807"/>
            </a:xfrm>
            <a:custGeom>
              <a:avLst/>
              <a:gdLst/>
              <a:ahLst/>
              <a:cxnLst/>
              <a:rect r="r" b="b" t="t" l="l"/>
              <a:pathLst>
                <a:path h="1757807" w="6882384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6589395" y="0"/>
                  </a:lnTo>
                  <a:cubicBezTo>
                    <a:pt x="6751193" y="0"/>
                    <a:pt x="6882384" y="131191"/>
                    <a:pt x="6882384" y="292989"/>
                  </a:cubicBezTo>
                  <a:lnTo>
                    <a:pt x="6882384" y="1464818"/>
                  </a:lnTo>
                  <a:cubicBezTo>
                    <a:pt x="6882384" y="1626616"/>
                    <a:pt x="6751193" y="1757807"/>
                    <a:pt x="6589395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AFDFD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739823" y="4982804"/>
            <a:ext cx="96088" cy="809873"/>
            <a:chOff x="0" y="0"/>
            <a:chExt cx="128118" cy="10798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143" cy="1079881"/>
            </a:xfrm>
            <a:custGeom>
              <a:avLst/>
              <a:gdLst/>
              <a:ahLst/>
              <a:cxnLst/>
              <a:rect r="r" b="b" t="t" l="l"/>
              <a:pathLst>
                <a:path h="1079881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058545"/>
                  </a:lnTo>
                  <a:cubicBezTo>
                    <a:pt x="128143" y="1070356"/>
                    <a:pt x="118618" y="1079881"/>
                    <a:pt x="106807" y="1079881"/>
                  </a:cubicBezTo>
                  <a:lnTo>
                    <a:pt x="21336" y="1079881"/>
                  </a:lnTo>
                  <a:cubicBezTo>
                    <a:pt x="9525" y="1079881"/>
                    <a:pt x="0" y="1070229"/>
                    <a:pt x="0" y="1058545"/>
                  </a:cubicBezTo>
                  <a:close/>
                </a:path>
              </a:pathLst>
            </a:custGeom>
            <a:solidFill>
              <a:srgbClr val="41C9D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6921637" y="5014322"/>
            <a:ext cx="3116064" cy="716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869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OCR</a:t>
            </a:r>
          </a:p>
          <a:p>
            <a:pPr algn="l">
              <a:lnSpc>
                <a:spcPts val="2259"/>
              </a:lnSpc>
            </a:pPr>
            <a:r>
              <a:rPr lang="en-US" sz="1883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Prescription / report scanning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141003" y="4728572"/>
            <a:ext cx="5161817" cy="1318336"/>
            <a:chOff x="0" y="0"/>
            <a:chExt cx="6882422" cy="17577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82384" cy="1757807"/>
            </a:xfrm>
            <a:custGeom>
              <a:avLst/>
              <a:gdLst/>
              <a:ahLst/>
              <a:cxnLst/>
              <a:rect r="r" b="b" t="t" l="l"/>
              <a:pathLst>
                <a:path h="1757807" w="6882384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6589395" y="0"/>
                  </a:lnTo>
                  <a:cubicBezTo>
                    <a:pt x="6751193" y="0"/>
                    <a:pt x="6882384" y="131191"/>
                    <a:pt x="6882384" y="292989"/>
                  </a:cubicBezTo>
                  <a:lnTo>
                    <a:pt x="6882384" y="1464818"/>
                  </a:lnTo>
                  <a:cubicBezTo>
                    <a:pt x="6882384" y="1626616"/>
                    <a:pt x="6751193" y="1757807"/>
                    <a:pt x="6589395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AFDFD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367774" y="4982804"/>
            <a:ext cx="96088" cy="809873"/>
            <a:chOff x="0" y="0"/>
            <a:chExt cx="128118" cy="10798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143" cy="1079881"/>
            </a:xfrm>
            <a:custGeom>
              <a:avLst/>
              <a:gdLst/>
              <a:ahLst/>
              <a:cxnLst/>
              <a:rect r="r" b="b" t="t" l="l"/>
              <a:pathLst>
                <a:path h="1079881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058545"/>
                  </a:lnTo>
                  <a:cubicBezTo>
                    <a:pt x="128143" y="1070356"/>
                    <a:pt x="118618" y="1079881"/>
                    <a:pt x="106807" y="1079881"/>
                  </a:cubicBezTo>
                  <a:lnTo>
                    <a:pt x="21336" y="1079881"/>
                  </a:lnTo>
                  <a:cubicBezTo>
                    <a:pt x="9525" y="1079881"/>
                    <a:pt x="0" y="1070229"/>
                    <a:pt x="0" y="1058545"/>
                  </a:cubicBezTo>
                  <a:close/>
                </a:path>
              </a:pathLst>
            </a:custGeom>
            <a:solidFill>
              <a:srgbClr val="EFB549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549588" y="4982804"/>
            <a:ext cx="2411634" cy="73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5"/>
              </a:lnSpc>
            </a:pPr>
            <a:r>
              <a:rPr lang="en-US" sz="2954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CareSync DB</a:t>
            </a:r>
          </a:p>
          <a:p>
            <a:pPr algn="l">
              <a:lnSpc>
                <a:spcPts val="2326"/>
              </a:lnSpc>
            </a:pPr>
            <a:r>
              <a:rPr lang="en-US" sz="1938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Medicine information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85092" y="6924846"/>
            <a:ext cx="7907169" cy="1730140"/>
            <a:chOff x="0" y="0"/>
            <a:chExt cx="10542892" cy="230685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42777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54277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0158349" y="0"/>
                  </a:lnTo>
                  <a:cubicBezTo>
                    <a:pt x="10370693" y="0"/>
                    <a:pt x="10542777" y="172085"/>
                    <a:pt x="10542777" y="384429"/>
                  </a:cubicBezTo>
                  <a:lnTo>
                    <a:pt x="10542777" y="1922399"/>
                  </a:lnTo>
                  <a:cubicBezTo>
                    <a:pt x="10542777" y="2134743"/>
                    <a:pt x="10370693" y="2306828"/>
                    <a:pt x="10158349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AFDFD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11863" y="7179078"/>
            <a:ext cx="96088" cy="1221676"/>
            <a:chOff x="0" y="0"/>
            <a:chExt cx="128118" cy="16289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143" cy="1628902"/>
            </a:xfrm>
            <a:custGeom>
              <a:avLst/>
              <a:gdLst/>
              <a:ahLst/>
              <a:cxnLst/>
              <a:rect r="r" b="b" t="t" l="l"/>
              <a:pathLst>
                <a:path h="1628902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607566"/>
                  </a:lnTo>
                  <a:cubicBezTo>
                    <a:pt x="128143" y="1619377"/>
                    <a:pt x="118618" y="1628902"/>
                    <a:pt x="106807" y="1628902"/>
                  </a:cubicBezTo>
                  <a:lnTo>
                    <a:pt x="21336" y="1628902"/>
                  </a:lnTo>
                  <a:cubicBezTo>
                    <a:pt x="9525" y="1628902"/>
                    <a:pt x="0" y="1619377"/>
                    <a:pt x="0" y="1607566"/>
                  </a:cubicBezTo>
                  <a:close/>
                </a:path>
              </a:pathLst>
            </a:custGeom>
            <a:solidFill>
              <a:srgbClr val="189A97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96444" y="7293184"/>
            <a:ext cx="7320553" cy="92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2"/>
              </a:lnSpc>
            </a:pPr>
            <a:r>
              <a:rPr lang="en-US" sz="370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Expected impact</a:t>
            </a:r>
          </a:p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Better medication adherence + faster emergency help.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121121" y="6924846"/>
            <a:ext cx="7907169" cy="1730140"/>
            <a:chOff x="0" y="0"/>
            <a:chExt cx="10542892" cy="230685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542777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54277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0158349" y="0"/>
                  </a:lnTo>
                  <a:cubicBezTo>
                    <a:pt x="10370693" y="0"/>
                    <a:pt x="10542777" y="172085"/>
                    <a:pt x="10542777" y="384429"/>
                  </a:cubicBezTo>
                  <a:lnTo>
                    <a:pt x="10542777" y="1922399"/>
                  </a:lnTo>
                  <a:cubicBezTo>
                    <a:pt x="10542777" y="2134743"/>
                    <a:pt x="10370693" y="2306828"/>
                    <a:pt x="10158349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AFDFD"/>
            </a:solidFill>
            <a:ln w="14299" cap="sq">
              <a:solidFill>
                <a:srgbClr val="DCEBED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347902" y="7179078"/>
            <a:ext cx="96088" cy="1221676"/>
            <a:chOff x="0" y="0"/>
            <a:chExt cx="128118" cy="162890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8143" cy="1628902"/>
            </a:xfrm>
            <a:custGeom>
              <a:avLst/>
              <a:gdLst/>
              <a:ahLst/>
              <a:cxnLst/>
              <a:rect r="r" b="b" t="t" l="l"/>
              <a:pathLst>
                <a:path h="1628902" w="128143">
                  <a:moveTo>
                    <a:pt x="0" y="21336"/>
                  </a:moveTo>
                  <a:cubicBezTo>
                    <a:pt x="0" y="9525"/>
                    <a:pt x="9525" y="0"/>
                    <a:pt x="21336" y="0"/>
                  </a:cubicBezTo>
                  <a:lnTo>
                    <a:pt x="106807" y="0"/>
                  </a:lnTo>
                  <a:cubicBezTo>
                    <a:pt x="118618" y="0"/>
                    <a:pt x="128143" y="9525"/>
                    <a:pt x="128143" y="21336"/>
                  </a:cubicBezTo>
                  <a:lnTo>
                    <a:pt x="128143" y="1607566"/>
                  </a:lnTo>
                  <a:cubicBezTo>
                    <a:pt x="128143" y="1619377"/>
                    <a:pt x="118618" y="1628902"/>
                    <a:pt x="106807" y="1628902"/>
                  </a:cubicBezTo>
                  <a:lnTo>
                    <a:pt x="21336" y="1628902"/>
                  </a:lnTo>
                  <a:cubicBezTo>
                    <a:pt x="9525" y="1628902"/>
                    <a:pt x="0" y="1619377"/>
                    <a:pt x="0" y="1607566"/>
                  </a:cubicBezTo>
                  <a:close/>
                </a:path>
              </a:pathLst>
            </a:custGeom>
            <a:solidFill>
              <a:srgbClr val="DC4A53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529715" y="7241741"/>
            <a:ext cx="6095945" cy="109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1" b="true">
                <a:solidFill>
                  <a:srgbClr val="0C1F30"/>
                </a:solidFill>
                <a:latin typeface="Aptos Bold"/>
                <a:ea typeface="Aptos Bold"/>
                <a:cs typeface="Aptos Bold"/>
                <a:sym typeface="Aptos Bold"/>
              </a:rPr>
              <a:t>USP</a:t>
            </a:r>
          </a:p>
          <a:p>
            <a:pPr algn="l">
              <a:lnSpc>
                <a:spcPts val="2482"/>
              </a:lnSpc>
            </a:pPr>
            <a:r>
              <a:rPr lang="en-US" sz="2068">
                <a:solidFill>
                  <a:srgbClr val="253946"/>
                </a:solidFill>
                <a:latin typeface="Aptos"/>
                <a:ea typeface="Aptos"/>
                <a:cs typeface="Aptos"/>
                <a:sym typeface="Aptos"/>
              </a:rPr>
              <a:t>AI Assistant + Medicine Tracking + SOS in one connected experience.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23608" y="9718519"/>
            <a:ext cx="16609333" cy="20593"/>
            <a:chOff x="0" y="0"/>
            <a:chExt cx="22145777" cy="2745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145752" cy="27432"/>
            </a:xfrm>
            <a:custGeom>
              <a:avLst/>
              <a:gdLst/>
              <a:ahLst/>
              <a:cxnLst/>
              <a:rect r="r" b="b" t="t" l="l"/>
              <a:pathLst>
                <a:path h="27432" w="22145752">
                  <a:moveTo>
                    <a:pt x="0" y="0"/>
                  </a:moveTo>
                  <a:lnTo>
                    <a:pt x="22145752" y="0"/>
                  </a:lnTo>
                  <a:lnTo>
                    <a:pt x="22145752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7E6E9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83675" y="9790576"/>
            <a:ext cx="8053159" cy="2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>
                <a:solidFill>
                  <a:srgbClr val="647884"/>
                </a:solidFill>
                <a:latin typeface="Calibri (MS)"/>
                <a:ea typeface="Calibri (MS)"/>
                <a:cs typeface="Calibri (MS)"/>
                <a:sym typeface="Calibri (MS)"/>
              </a:rPr>
              <a:t>CodeFlux • SDGI Global University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02055" cy="10287000"/>
            <a:chOff x="0" y="0"/>
            <a:chExt cx="24536074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5360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536074">
                  <a:moveTo>
                    <a:pt x="0" y="0"/>
                  </a:moveTo>
                  <a:lnTo>
                    <a:pt x="24536074" y="0"/>
                  </a:lnTo>
                  <a:lnTo>
                    <a:pt x="2453607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F3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7300" y="7352078"/>
            <a:ext cx="16002000" cy="2614979"/>
            <a:chOff x="0" y="0"/>
            <a:chExt cx="21336000" cy="3486639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1336000" cy="3486639"/>
            </a:xfrm>
            <a:custGeom>
              <a:avLst/>
              <a:gdLst/>
              <a:ahLst/>
              <a:cxnLst/>
              <a:rect r="r" b="b" t="t" l="l"/>
              <a:pathLst>
                <a:path h="3486639" w="21336000">
                  <a:moveTo>
                    <a:pt x="546100" y="0"/>
                  </a:moveTo>
                  <a:lnTo>
                    <a:pt x="20789900" y="0"/>
                  </a:lnTo>
                  <a:cubicBezTo>
                    <a:pt x="21091503" y="0"/>
                    <a:pt x="21336000" y="244497"/>
                    <a:pt x="21336000" y="546100"/>
                  </a:cubicBezTo>
                  <a:lnTo>
                    <a:pt x="21336000" y="2940539"/>
                  </a:lnTo>
                  <a:cubicBezTo>
                    <a:pt x="21336000" y="3242142"/>
                    <a:pt x="21091503" y="3486639"/>
                    <a:pt x="20789900" y="3486639"/>
                  </a:cubicBezTo>
                  <a:lnTo>
                    <a:pt x="546100" y="3486639"/>
                  </a:lnTo>
                  <a:cubicBezTo>
                    <a:pt x="401265" y="3486639"/>
                    <a:pt x="262363" y="3429104"/>
                    <a:pt x="159949" y="3326690"/>
                  </a:cubicBezTo>
                  <a:cubicBezTo>
                    <a:pt x="57535" y="3224276"/>
                    <a:pt x="0" y="3085374"/>
                    <a:pt x="0" y="2940539"/>
                  </a:cubicBezTo>
                  <a:lnTo>
                    <a:pt x="0" y="546100"/>
                  </a:lnTo>
                  <a:cubicBezTo>
                    <a:pt x="0" y="244497"/>
                    <a:pt x="244497" y="0"/>
                    <a:pt x="546100" y="0"/>
                  </a:cubicBezTo>
                  <a:close/>
                </a:path>
              </a:pathLst>
            </a:custGeom>
            <a:solidFill>
              <a:srgbClr val="17465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07569" y="7809462"/>
            <a:ext cx="3686175" cy="1285875"/>
            <a:chOff x="0" y="0"/>
            <a:chExt cx="4914900" cy="17145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9149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4914900">
                  <a:moveTo>
                    <a:pt x="0" y="0"/>
                  </a:moveTo>
                  <a:lnTo>
                    <a:pt x="4914900" y="0"/>
                  </a:lnTo>
                  <a:lnTo>
                    <a:pt x="4914900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0" r="0" b="-36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65244" y="7809462"/>
            <a:ext cx="3557588" cy="1285875"/>
            <a:chOff x="0" y="0"/>
            <a:chExt cx="4743450" cy="17145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743450" cy="1714500"/>
            </a:xfrm>
            <a:custGeom>
              <a:avLst/>
              <a:gdLst/>
              <a:ahLst/>
              <a:cxnLst/>
              <a:rect r="r" b="b" t="t" l="l"/>
              <a:pathLst>
                <a:path h="1714500" w="4743450">
                  <a:moveTo>
                    <a:pt x="0" y="0"/>
                  </a:moveTo>
                  <a:lnTo>
                    <a:pt x="4743450" y="0"/>
                  </a:lnTo>
                  <a:lnTo>
                    <a:pt x="4743450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53" r="0" b="-35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794331" y="7809462"/>
            <a:ext cx="3086100" cy="1285875"/>
            <a:chOff x="0" y="0"/>
            <a:chExt cx="4114800" cy="17145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1148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2" r="0" b="-32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222527" y="3024246"/>
            <a:ext cx="5842945" cy="146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5"/>
              </a:lnSpc>
            </a:pPr>
            <a:r>
              <a:rPr lang="en-US" b="true" sz="9688">
                <a:solidFill>
                  <a:srgbClr val="FAFDFD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7300" y="4379643"/>
            <a:ext cx="16002000" cy="60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8"/>
              </a:lnSpc>
            </a:pPr>
            <a:r>
              <a:rPr lang="en-US" sz="3150">
                <a:solidFill>
                  <a:srgbClr val="059669"/>
                </a:solidFill>
                <a:latin typeface="Aptos"/>
                <a:ea typeface="Aptos"/>
                <a:cs typeface="Aptos"/>
                <a:sym typeface="Aptos"/>
              </a:rPr>
              <a:t>Keeping patients and families connected, informed, and safe.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08676" y="1110761"/>
            <a:ext cx="1913485" cy="1913485"/>
            <a:chOff x="0" y="0"/>
            <a:chExt cx="1905000" cy="1905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00" r="0" b="-50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860533" y="6467670"/>
            <a:ext cx="4566934" cy="68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9"/>
              </a:lnSpc>
            </a:pPr>
            <a:r>
              <a:rPr lang="en-US" b="true" sz="4616">
                <a:solidFill>
                  <a:srgbClr val="FAFAFC"/>
                </a:solidFill>
                <a:latin typeface="Aptos Bold"/>
                <a:ea typeface="Aptos Bold"/>
                <a:cs typeface="Aptos Bold"/>
                <a:sym typeface="Aptos Bold"/>
              </a:rPr>
              <a:t>TEAM CODEFLUX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47636" y="8109499"/>
            <a:ext cx="260604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Saket Kumar Mishra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56984" y="8469498"/>
            <a:ext cx="1387345" cy="37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3"/>
              </a:lnSpc>
            </a:pPr>
            <a:r>
              <a:rPr lang="en-US" sz="2394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Developer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15762" y="8109499"/>
            <a:ext cx="245654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Jitesh Kumar Singh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65782" y="8442874"/>
            <a:ext cx="95651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8"/>
              </a:lnSpc>
            </a:pPr>
            <a:r>
              <a:rPr lang="en-US" sz="2273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16604" y="8109499"/>
            <a:ext cx="204155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Arpit Kushwaha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82268" y="8442874"/>
            <a:ext cx="1310227" cy="36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9"/>
              </a:lnSpc>
            </a:pPr>
            <a:r>
              <a:rPr lang="en-US" sz="2324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Presenter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DAHSdweIarU</dc:identifier>
  <dcterms:modified xsi:type="dcterms:W3CDTF">2011-08-01T06:04:30Z</dcterms:modified>
  <cp:revision>1</cp:revision>
  <dc:title>CareSync_AIthon_Presentation-1.pptx</dc:title>
</cp:coreProperties>
</file>